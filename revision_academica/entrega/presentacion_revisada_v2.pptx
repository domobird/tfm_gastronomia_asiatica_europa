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7b02559a2a544f4" /><Relationship Type="http://schemas.openxmlformats.org/officeDocument/2006/relationships/extended-properties" Target="/docProps/app.xml" Id="Rb882b16ba4a14cb5" /><Relationship Type="http://schemas.openxmlformats.org/officeDocument/2006/relationships/officeDocument" Target="/ppt/presentation.xml" Id="Rf7be8b774ed6429c" /></Relationships>
</file>

<file path=ppt/presentation.xml><?xml version="1.0" encoding="utf-8"?>
<p:presentation xmlns:p="http://schemas.openxmlformats.org/presentationml/2006/main">
  <p:sldMasterIdLst>
    <p:sldMasterId xmlns:r="http://schemas.openxmlformats.org/officeDocument/2006/relationships" id="2147483648" r:id="Rc63ff3d662cd4816"/>
  </p:sldMasterIdLst>
  <p:notesMasterIdLst>
    <p:notesMasterId xmlns:r="http://schemas.openxmlformats.org/officeDocument/2006/relationships" r:id="Rcb2553a09a904c97"/>
  </p:notesMasterIdLst>
  <p:sldIdLst>
    <p:sldId xmlns:r="http://schemas.openxmlformats.org/officeDocument/2006/relationships" id="256" r:id="Ree78bb09c6764f8d"/>
    <p:sldId xmlns:r="http://schemas.openxmlformats.org/officeDocument/2006/relationships" id="257" r:id="Rd8eebd6d2fd84cea"/>
    <p:sldId xmlns:r="http://schemas.openxmlformats.org/officeDocument/2006/relationships" id="258" r:id="R2e6d0d3682504541"/>
    <p:sldId xmlns:r="http://schemas.openxmlformats.org/officeDocument/2006/relationships" id="259" r:id="R2488e15358cc4ab5"/>
    <p:sldId xmlns:r="http://schemas.openxmlformats.org/officeDocument/2006/relationships" id="260" r:id="Ra163f12396784af8"/>
    <p:sldId xmlns:r="http://schemas.openxmlformats.org/officeDocument/2006/relationships" id="261" r:id="R52f0569399ec4146"/>
    <p:sldId xmlns:r="http://schemas.openxmlformats.org/officeDocument/2006/relationships" id="262" r:id="R43bcd05653bc4f24"/>
    <p:sldId xmlns:r="http://schemas.openxmlformats.org/officeDocument/2006/relationships" id="263" r:id="Ra357535284494ddf"/>
    <p:sldId xmlns:r="http://schemas.openxmlformats.org/officeDocument/2006/relationships" id="264" r:id="Rc51035b1807b440e"/>
    <p:sldId xmlns:r="http://schemas.openxmlformats.org/officeDocument/2006/relationships" id="265" r:id="Re06f897261214f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70cdf6627b4062" /><Relationship Type="http://schemas.openxmlformats.org/officeDocument/2006/relationships/slideMaster" Target="/ppt/slideMasters/slideMaster1.xml" Id="Rc63ff3d662cd4816" /><Relationship Type="http://schemas.openxmlformats.org/officeDocument/2006/relationships/notesMaster" Target="/ppt/notesMasters/notesMaster1.xml" Id="Rcb2553a09a904c97" /><Relationship Type="http://schemas.openxmlformats.org/officeDocument/2006/relationships/presProps" Target="/ppt/presProps.xml" Id="Raa130322f4174b61" /><Relationship Type="http://schemas.openxmlformats.org/officeDocument/2006/relationships/tableStyles" Target="/ppt/tableStyles.xml" Id="Re6ffccf5b4ad43c7" /><Relationship Type="http://schemas.openxmlformats.org/officeDocument/2006/relationships/slide" Target="/ppt/slides/slide1.xml" Id="Ree78bb09c6764f8d" /><Relationship Type="http://schemas.openxmlformats.org/officeDocument/2006/relationships/slide" Target="/ppt/slides/slide2.xml" Id="Rd8eebd6d2fd84cea" /><Relationship Type="http://schemas.openxmlformats.org/officeDocument/2006/relationships/slide" Target="/ppt/slides/slide3.xml" Id="R2e6d0d3682504541" /><Relationship Type="http://schemas.openxmlformats.org/officeDocument/2006/relationships/slide" Target="/ppt/slides/slide4.xml" Id="R2488e15358cc4ab5" /><Relationship Type="http://schemas.openxmlformats.org/officeDocument/2006/relationships/slide" Target="/ppt/slides/slide5.xml" Id="Ra163f12396784af8" /><Relationship Type="http://schemas.openxmlformats.org/officeDocument/2006/relationships/slide" Target="/ppt/slides/slide6.xml" Id="R52f0569399ec4146" /><Relationship Type="http://schemas.openxmlformats.org/officeDocument/2006/relationships/slide" Target="/ppt/slides/slide7.xml" Id="R43bcd05653bc4f24" /><Relationship Type="http://schemas.openxmlformats.org/officeDocument/2006/relationships/slide" Target="/ppt/slides/slide8.xml" Id="Ra357535284494ddf" /><Relationship Type="http://schemas.openxmlformats.org/officeDocument/2006/relationships/slide" Target="/ppt/slides/slide9.xml" Id="Rc51035b1807b440e" /><Relationship Type="http://schemas.openxmlformats.org/officeDocument/2006/relationships/slide" Target="/ppt/slides/slide10.xml" Id="Re06f897261214f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6189a3ad9941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6dd71bdb2c4855" /><Relationship Type="http://schemas.openxmlformats.org/officeDocument/2006/relationships/notesMaster" Target="/ppt/notesMasters/notesMaster1.xml" Id="R0293a6b74e9846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75fc48bff74bbf" /><Relationship Type="http://schemas.openxmlformats.org/officeDocument/2006/relationships/notesMaster" Target="/ppt/notesMasters/notesMaster1.xml" Id="Ra9ea4ab6e8c748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14a7ff722c4ff8" /><Relationship Type="http://schemas.openxmlformats.org/officeDocument/2006/relationships/notesMaster" Target="/ppt/notesMasters/notesMaster1.xml" Id="R7456365277ed4c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5a8afb3ade4a3d" /><Relationship Type="http://schemas.openxmlformats.org/officeDocument/2006/relationships/notesMaster" Target="/ppt/notesMasters/notesMaster1.xml" Id="R7893445178674e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a4968c040c4464" /><Relationship Type="http://schemas.openxmlformats.org/officeDocument/2006/relationships/notesMaster" Target="/ppt/notesMasters/notesMaster1.xml" Id="R7aa1ec9521f541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cbb07bf5bd4045" /><Relationship Type="http://schemas.openxmlformats.org/officeDocument/2006/relationships/notesMaster" Target="/ppt/notesMasters/notesMaster1.xml" Id="R4567cc78de0f47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e5e1b9c4234e12" /><Relationship Type="http://schemas.openxmlformats.org/officeDocument/2006/relationships/notesMaster" Target="/ppt/notesMasters/notesMaster1.xml" Id="R39826f6b2bd148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08433f8b2d408d" /><Relationship Type="http://schemas.openxmlformats.org/officeDocument/2006/relationships/notesMaster" Target="/ppt/notesMasters/notesMaster1.xml" Id="R6116163ed0f845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3d2e3583e242fb" /><Relationship Type="http://schemas.openxmlformats.org/officeDocument/2006/relationships/notesMaster" Target="/ppt/notesMasters/notesMaster1.xml" Id="R1da4cefbd55540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32b5f57828422a" /><Relationship Type="http://schemas.openxmlformats.org/officeDocument/2006/relationships/notesMaster" Target="/ppt/notesMasters/notesMaster1.xml" Id="R0823047b47744b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Hola, soy Peng Chen. Mi trabajo analiza restaurantes asiáticos en Europa, con especial foco en España. Combina análisis exploratorio, predicción de valoración y una aplicación local. Mi interés inicial por abrir un buffet de sushi en Madrid sirve como motivación, pero distingo esa decisión de lo que realmente permite demostrar el dataset.</a:t>
            </a:r>
          </a:p>
          <a:p xmlns:a="http://schemas.openxmlformats.org/drawingml/2006/main">
            <a:r>
              <a:t/>
            </a:r>
          </a:p>
          <a:p xmlns:a="http://schemas.openxmlformats.org/drawingml/2006/main">
            <a:r>
              <a:t>Fuentes: Propuesta aprobada y memoria revisada, sección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Parto de TripAdvisor European Restaurants, publicado en 2021. El filtro asiático contiene 86.306 restaurantes, y 81.315 tienen valoración válida. Verifiqué la licencia CC0 declarada en la API de Kaggle. La muestra es histórica y depende de la cobertura de la plataforma. Por eso no la trato como un censo actual ni como una base de beneficios empresariales.</a:t>
            </a:r>
          </a:p>
          <a:p xmlns:a="http://schemas.openxmlformats.org/drawingml/2006/main">
            <a:r>
              <a:t/>
            </a:r>
          </a:p>
          <a:p xmlns:a="http://schemas.openxmlformats.org/drawingml/2006/main">
            <a:r>
              <a:t>Fuentes: Kaggle: https://www.kaggle.com/datasets/stefanoleone992/tripadvisor-european-restaurants; resultados/kaggle_metadata.json y evaluacion.json.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England, France, Germany y Spain concentran una parte importante de los registros. España aporta 8.295 restaurantes. Conservo las etiquetas originales: England no equivale a todo el Reino Unido. Además, la ciudad está incompleta en muchos registros españoles, por lo que no afirmo que Madrid sea el mayor mercado. Las diferencias geográficas describen la muestra, no oportunidades de inversión demostradas.</a:t>
            </a:r>
          </a:p>
          <a:p xmlns:a="http://schemas.openxmlformats.org/drawingml/2006/main">
            <a:r>
              <a:t/>
            </a:r>
          </a:p>
          <a:p xmlns:a="http://schemas.openxmlformats.org/drawingml/2006/main">
            <a:r>
              <a:t>Fuentes: Elaboración propia: resultados/eda_paises.json y eda_extra.json.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Comparo dos variantes. La primera utiliza ubicación, horarios, precio, dietas y cocinas. La segunda añade comida, servicio, valor, ambiente y número de reseñas. Estas opiniones ya existentes están estrechamente relacionadas con el rating objetivo. La comparación permite comprobar cuánto depende el resultado de información reputacional. Ninguna variante se ha validado como predicción de una nueva apertura.</a:t>
            </a:r>
          </a:p>
          <a:p xmlns:a="http://schemas.openxmlformats.org/drawingml/2006/main">
            <a:r>
              <a:t/>
            </a:r>
          </a:p>
          <a:p xmlns:a="http://schemas.openxmlformats.org/drawingml/2006/main">
            <a:r>
              <a:t>Fuentes: Elaboración propia. resultados/evaluacion.json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Separé entrenamiento, validación y test, estratificando por territorio. La imputación y codificación se ajustan dentro del pipeline. Comparé una referencia de media, regresión lineal, Random Forest y XGBoost. Seleccioné el algoritmo por validación y reservé el test para evaluación final. La diferencia entre los dos conjuntos de árboles sin reputación es pequeña; no la presento como una superioridad general de Random Forest.</a:t>
            </a:r>
          </a:p>
          <a:p xmlns:a="http://schemas.openxmlformats.org/drawingml/2006/main">
            <a:r>
              <a:t/>
            </a:r>
          </a:p>
          <a:p xmlns:a="http://schemas.openxmlformats.org/drawingml/2006/main">
            <a:r>
              <a:t>Fuentes: Elaboración propia. resultados/evaluacion.json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las mismas 16.263 observaciones de test, la referencia tiene un RMSE de 0,695. Sin reputación, Random Forest baja a 0,625 y su error absoluto medio es de 0,462 puntos. Con reputación, XGBoost alcanza 0,542 de RMSE y 0,361 de error absoluto medio. La mejora es real en esta muestra, pero no demuestra capacidad para predecir rentabilidad ni generalización a datos actuales.</a:t>
            </a:r>
          </a:p>
          <a:p xmlns:a="http://schemas.openxmlformats.org/drawingml/2006/main">
            <a:r>
              <a:t/>
            </a:r>
          </a:p>
          <a:p xmlns:a="http://schemas.openxmlformats.org/drawingml/2006/main">
            <a:r>
              <a:t>Fuentes: Elaboración propia. resultados/evaluacion.json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Recalculé la importancia mediante permutación sobre una muestra de validación. Sin reputación destacan algunas etiquetas y horarios; con reputación destacan comida y servicio. El gráfico muestra cuánto empeora el error al desordenar una variable. Esto explica dependencia del modelo, no el efecto causal de cambiar el negocio. Las variables correlacionadas y la falta de información pueden influir en ese orden.</a:t>
            </a:r>
          </a:p>
          <a:p xmlns:a="http://schemas.openxmlformats.org/drawingml/2006/main">
            <a:r>
              <a:t/>
            </a:r>
          </a:p>
          <a:p xmlns:a="http://schemas.openxmlformats.org/drawingml/2006/main">
            <a:r>
              <a:t>Fuentes: Elaboración propia. resultados/evaluacion.json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modelo sin reputación se integra en una aplicación local. El usuario introduce características y recibe una estimación identificada por versión. El sistema comprueba tipos, rangos y correspondencia entre país y región; informa de los valores imputados. Probé que la API coincide con el pipeline y rechaza entradas inválidas. Hay contadores básicos de uso y ausencias, aunque todavía no es un servicio empresarial desplegado.</a:t>
            </a:r>
          </a:p>
          <a:p xmlns:a="http://schemas.openxmlformats.org/drawingml/2006/main">
            <a:r>
              <a:t/>
            </a:r>
          </a:p>
          <a:p xmlns:a="http://schemas.openxmlformats.org/drawingml/2006/main">
            <a:r>
              <a:t>Fuentes: src/servir.py, src/interfaz.html, src/verificar.py y resultados/evaluacion.json.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Madrid incorporé censo de locales, padrón, renta del INE y ofertas de restaurantes. Estas fuentes mejoran el contexto y la discusión de actualidad, pero no aportan directamente ventas futuras. No interpreto unos pocos buffets etiquetados como el total de competidores. Los escenarios de equilibrio permanecen como anexo: calculan condiciones bajo supuestos, sin demostrar que una inversión concreta sea rentable.</a:t>
            </a:r>
          </a:p>
          <a:p xmlns:a="http://schemas.openxmlformats.org/drawingml/2006/main">
            <a:r>
              <a:t/>
            </a:r>
          </a:p>
          <a:p xmlns:a="http://schemas.openxmlformats.org/drawingml/2006/main">
            <a:r>
              <a:t>Fuentes: https://datos.madrid.es; https://www.ine.es/dyngs/Prensa/ADRH2023.htm; investigacion_madrid/FASE2_RESULTADOS.md a FASE5_RESULTADOS.md.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conclusión principal es que puedo estimar valoraciones históricas con una mejora moderada sobre una referencia sencilla, explicar parte del comportamiento del modelo y demostrar una aplicación reproducible. La lección es elegir variables según su disponibilidad y no confundir rating con éxito económico. La siguiente mejora sería validar con una captura independiente y actual, y medir la utilidad real de la herramienta. Gracias.</a:t>
            </a:r>
          </a:p>
          <a:p xmlns:a="http://schemas.openxmlformats.org/drawingml/2006/main">
            <a:r>
              <a:t/>
            </a:r>
          </a:p>
          <a:p xmlns:a="http://schemas.openxmlformats.org/drawingml/2006/main">
            <a:r>
              <a:t>Fuentes: Memoria revisada, secciones 6 a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713bcb4fce44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8a9ba2306a4b49" /><Relationship Type="http://schemas.openxmlformats.org/officeDocument/2006/relationships/slideLayout" Target="/ppt/slideLayouts/slideLayout1.xml" Id="R40f09d0df78149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f09d0df78149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99a3a3574740ab" /><Relationship Type="http://schemas.openxmlformats.org/officeDocument/2006/relationships/notesSlide" Target="/ppt/notesSlides/notesSlide1.xml" Id="R9d4f72a2b5c54d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5865d080ff4f81" /><Relationship Type="http://schemas.openxmlformats.org/officeDocument/2006/relationships/notesSlide" Target="/ppt/notesSlides/notesSlide2.xml" Id="Rbe3b9380b41a4d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c1281619884740" /><Relationship Type="http://schemas.openxmlformats.org/officeDocument/2006/relationships/chart" Target="/ppt/slides/charts/chart1.xml" Id="Reec8b24df4634c0d" /><Relationship Type="http://schemas.openxmlformats.org/officeDocument/2006/relationships/notesSlide" Target="/ppt/notesSlides/notesSlide3.xml" Id="R3f36e384c91141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3cb2b3987741dd" /><Relationship Type="http://schemas.openxmlformats.org/officeDocument/2006/relationships/notesSlide" Target="/ppt/notesSlides/notesSlide4.xml" Id="Rd160c4955c4945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7eeeeb77c54097" /><Relationship Type="http://schemas.openxmlformats.org/officeDocument/2006/relationships/notesSlide" Target="/ppt/notesSlides/notesSlide5.xml" Id="R8971100365294d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09e4126ec44861" /><Relationship Type="http://schemas.openxmlformats.org/officeDocument/2006/relationships/chart" Target="/ppt/slides/charts/chart2.xml" Id="R55fef3a220d94aed" /><Relationship Type="http://schemas.openxmlformats.org/officeDocument/2006/relationships/notesSlide" Target="/ppt/notesSlides/notesSlide6.xml" Id="R2ac4cbcb1b6d4d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5ae05b26374409" /><Relationship Type="http://schemas.openxmlformats.org/officeDocument/2006/relationships/chart" Target="/ppt/slides/charts/chart3.xml" Id="Rd375705a45d84a4f" /><Relationship Type="http://schemas.openxmlformats.org/officeDocument/2006/relationships/notesSlide" Target="/ppt/notesSlides/notesSlide7.xml" Id="Ra0a093ba6afd4a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bb6a03667f4885" /><Relationship Type="http://schemas.openxmlformats.org/officeDocument/2006/relationships/notesSlide" Target="/ppt/notesSlides/notesSlide8.xml" Id="R4a762312c8b742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cc669dc7694465" /><Relationship Type="http://schemas.openxmlformats.org/officeDocument/2006/relationships/notesSlide" Target="/ppt/notesSlides/notesSlide9.xml" Id="Rf78f7fa10dd04d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166049e2c7459a" /><Relationship Type="http://schemas.openxmlformats.org/officeDocument/2006/relationships/notesSlide" Target="/ppt/notesSlides/notesSlide10.xml" Id="R1e785681584c4b7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Registros</c:v>
          </c:tx>
          <c:spPr>
            <a:solidFill xmlns:a="http://schemas.openxmlformats.org/drawingml/2006/main">
              <a:srgbClr val="8C1D22"/>
            </a:solidFill>
          </c:spPr>
          <c:cat>
            <c:strRef>
              <c:f>'Chart Data'!$A$2:$A$6</c:f>
              <c:strCache>
                <c:ptCount val="5"/>
                <c:pt idx="0">
                  <c:v>England</c:v>
                </c:pt>
                <c:pt idx="1">
                  <c:v>France</c:v>
                </c:pt>
                <c:pt idx="2">
                  <c:v>Germany</c:v>
                </c:pt>
                <c:pt idx="3">
                  <c:v>Spain</c:v>
                </c:pt>
                <c:pt idx="4">
                  <c:v>Italy</c:v>
                </c:pt>
              </c:strCache>
            </c:strRef>
          </c:cat>
          <c:val>
            <c:numRef>
              <c:f>'Chart Data'!$B$2:$B$6</c:f>
              <c:numCache>
                <c:formatCode>#,##0</c:formatCode>
                <c:ptCount val="5"/>
                <c:pt idx="0">
                  <c:v>24090</c:v>
                </c:pt>
                <c:pt idx="1">
                  <c:v>13300</c:v>
                </c:pt>
                <c:pt idx="2">
                  <c:v>9431</c:v>
                </c:pt>
                <c:pt idx="3">
                  <c:v>8295</c:v>
                </c:pt>
                <c:pt idx="4">
                  <c:v>7314</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RMSE</c:v>
          </c:tx>
          <c:spPr>
            <a:solidFill xmlns:a="http://schemas.openxmlformats.org/drawingml/2006/main">
              <a:srgbClr val="8C1D22"/>
            </a:solidFill>
          </c:spPr>
          <c:cat>
            <c:strRef>
              <c:f>'Chart Data'!$A$2:$A$4</c:f>
              <c:strCache>
                <c:ptCount val="3"/>
                <c:pt idx="0">
                  <c:v>Media de entrenamiento</c:v>
                </c:pt>
                <c:pt idx="1">
                  <c:v>Sin reputación · RF</c:v>
                </c:pt>
                <c:pt idx="2">
                  <c:v>Con reputación · XGB</c:v>
                </c:pt>
              </c:strCache>
            </c:strRef>
          </c:cat>
          <c:val>
            <c:numRef>
              <c:f>'Chart Data'!$B$2:$B$4</c:f>
              <c:numCache>
                <c:formatCode>0.000</c:formatCode>
                <c:ptCount val="3"/>
                <c:pt idx="0">
                  <c:v>0.695437</c:v>
                </c:pt>
                <c:pt idx="1">
                  <c:v>0.624743</c:v>
                </c:pt>
                <c:pt idx="2">
                  <c:v>0.54234</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b"/>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Aumento de RMSE</c:v>
          </c:tx>
          <c:spPr>
            <a:solidFill xmlns:a="http://schemas.openxmlformats.org/drawingml/2006/main">
              <a:srgbClr val="8C1D22"/>
            </a:solidFill>
          </c:spPr>
          <c:cat>
            <c:strRef>
              <c:f>'Chart Data'!$A$2:$A$6</c:f>
              <c:strCache>
                <c:ptCount val="5"/>
                <c:pt idx="0">
                  <c:v>Etiqueta Chinese</c:v>
                </c:pt>
                <c:pt idx="1">
                  <c:v>Opciones veganas</c:v>
                </c:pt>
                <c:pt idx="2">
                  <c:v>Días abiertos</c:v>
                </c:pt>
                <c:pt idx="3">
                  <c:v>Longitud</c:v>
                </c:pt>
                <c:pt idx="4">
                  <c:v>Opciones vegetarianas</c:v>
                </c:pt>
              </c:strCache>
            </c:strRef>
          </c:cat>
          <c:val>
            <c:numRef>
              <c:f>'Chart Data'!$B$2:$B$6</c:f>
              <c:numCache>
                <c:formatCode>0.000</c:formatCode>
                <c:ptCount val="5"/>
                <c:pt idx="0">
                  <c:v>0.032469</c:v>
                </c:pt>
                <c:pt idx="1">
                  <c:v>0.023585</c:v>
                </c:pt>
                <c:pt idx="2">
                  <c:v>0.020017</c:v>
                </c:pt>
                <c:pt idx="3">
                  <c:v>0.014738</c:v>
                </c:pt>
                <c:pt idx="4">
                  <c:v>0.012279</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b"/>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8C1D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EE7710-FC13-4D51-9ABA-213706465F54}"/>
              </a:ext>
            </a:extLst>
          </p:cNvPr>
          <p:cNvSpPr>
            <a:spLocks xmlns:a="http://schemas.openxmlformats.org/drawingml/2006/main" noGrp="1"/>
          </p:cNvSpPr>
          <p:nvPr/>
        </p:nvSpPr>
        <p:spPr>
          <a:xfrm xmlns:a="http://schemas.openxmlformats.org/drawingml/2006/main">
            <a:off x="714375" y="495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Gastronomía asiática</a:t>
            </a:r>
          </a:p>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en Europa</a:t>
            </a:r>
          </a:p>
        </p:txBody>
      </p:sp>
      <p:sp>
        <p:nvSpPr>
          <p:cNvPr id="2" name="">
            <a:extLst xmlns:a="http://schemas.openxmlformats.org/drawingml/2006/main">
              <a:ext uri="{FF2B5EF4-FFF2-40B4-BE49-F238E27FC236}">
                <a16:creationId xmlns:a16="http://schemas.microsoft.com/office/drawing/2014/main" id="{38BA185B-CB50-44AC-9B26-6C4EAB945A64}"/>
              </a:ext>
            </a:extLst>
          </p:cNvPr>
          <p:cNvSpPr>
            <a:spLocks xmlns:a="http://schemas.openxmlformats.org/drawingml/2006/main" noGrp="1"/>
          </p:cNvSpPr>
          <p:nvPr/>
        </p:nvSpPr>
        <p:spPr>
          <a:xfrm xmlns:a="http://schemas.openxmlformats.org/drawingml/2006/main">
            <a:off x="11049000" y="63912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7189264F-8EAC-4329-96FB-2C89E5DCA6EC}"/>
              </a:ext>
            </a:extLst>
          </p:cNvPr>
          <p:cNvSpPr>
            <a:spLocks xmlns:a="http://schemas.openxmlformats.org/drawingml/2006/main" noGrp="1"/>
          </p:cNvSpPr>
          <p:nvPr/>
        </p:nvSpPr>
        <p:spPr>
          <a:xfrm xmlns:a="http://schemas.openxmlformats.org/drawingml/2006/main">
            <a:off x="762000" y="2524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4E9D8"/>
                </a:solidFill>
                <a:latin typeface="Arial"/>
                <a:ea typeface="Arial"/>
                <a:cs typeface="Arial"/>
              </a:defRPr>
            </a:pPr>
            <a:r>
              <a:rPr sz="2550" b="0">
                <a:solidFill>
                  <a:srgbClr val="F4E9D8"/>
                </a:solidFill>
                <a:latin typeface="Arial"/>
                <a:ea typeface="Arial"/>
                <a:cs typeface="Arial"/>
              </a:rPr>
              <a:t>Análisis y predicción de valoración</a:t>
            </a:r>
          </a:p>
          <a:p xmlns:a="http://schemas.openxmlformats.org/drawingml/2006/main">
            <a:pPr>
              <a:defRPr sz="2550" b="0">
                <a:solidFill>
                  <a:srgbClr val="F4E9D8"/>
                </a:solidFill>
                <a:latin typeface="Arial"/>
                <a:ea typeface="Arial"/>
                <a:cs typeface="Arial"/>
              </a:defRPr>
            </a:pPr>
            <a:r>
              <a:rPr sz="2550" b="0">
                <a:solidFill>
                  <a:srgbClr val="F4E9D8"/>
                </a:solidFill>
                <a:latin typeface="Arial"/>
                <a:ea typeface="Arial"/>
                <a:cs typeface="Arial"/>
              </a:rPr>
              <a:t>con especial foco en España</a:t>
            </a:r>
          </a:p>
        </p:txBody>
      </p:sp>
      <p:sp>
        <p:nvSpPr>
          <p:cNvPr id="4" name="">
            <a:extLst xmlns:a="http://schemas.openxmlformats.org/drawingml/2006/main">
              <a:ext uri="{FF2B5EF4-FFF2-40B4-BE49-F238E27FC236}">
                <a16:creationId xmlns:a16="http://schemas.microsoft.com/office/drawing/2014/main" id="{B1941FFF-DB91-4F68-AD33-7B4520F26891}"/>
              </a:ext>
            </a:extLst>
          </p:cNvPr>
          <p:cNvSpPr>
            <a:spLocks xmlns:a="http://schemas.openxmlformats.org/drawingml/2006/main" noGrp="1"/>
          </p:cNvSpPr>
          <p:nvPr/>
        </p:nvSpPr>
        <p:spPr>
          <a:xfrm xmlns:a="http://schemas.openxmlformats.org/drawingml/2006/main">
            <a:off x="762000" y="466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Peng Chen</a:t>
            </a:r>
          </a:p>
        </p:txBody>
      </p:sp>
      <p:sp>
        <p:nvSpPr>
          <p:cNvPr id="5" name="">
            <a:extLst xmlns:a="http://schemas.openxmlformats.org/drawingml/2006/main">
              <a:ext uri="{FF2B5EF4-FFF2-40B4-BE49-F238E27FC236}">
                <a16:creationId xmlns:a16="http://schemas.microsoft.com/office/drawing/2014/main" id="{921AEDF0-35EA-4F48-B2C9-C72BB53162F3}"/>
              </a:ext>
            </a:extLst>
          </p:cNvPr>
          <p:cNvSpPr>
            <a:spLocks xmlns:a="http://schemas.openxmlformats.org/drawingml/2006/main" noGrp="1"/>
          </p:cNvSpPr>
          <p:nvPr/>
        </p:nvSpPr>
        <p:spPr>
          <a:xfrm xmlns:a="http://schemas.openxmlformats.org/drawingml/2006/main">
            <a:off x="762000" y="52482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TFM · Big Data, Data Science e Inteligencia Artificial</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UCM Online · Septiembre 2026</a:t>
            </a:r>
          </a:p>
        </p:txBody>
      </p:sp>
    </p:spTree>
    <p:extLst>
      <p:ext uri="{BB962C8B-B14F-4D97-AF65-F5344CB8AC3E}">
        <p14:creationId xmlns:p14="http://schemas.microsoft.com/office/powerpoint/2010/main" val="17001960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321FEB-4897-4A2A-8C32-AB91BCF9B0D2}"/>
              </a:ext>
            </a:extLst>
          </p:cNvPr>
          <p:cNvSpPr>
            <a:spLocks xmlns:a="http://schemas.openxmlformats.org/drawingml/2006/main" noGrp="1"/>
          </p:cNvSpPr>
          <p:nvPr/>
        </p:nvSpPr>
        <p:spPr>
          <a:xfrm xmlns:a="http://schemas.openxmlformats.org/drawingml/2006/main">
            <a:off x="714375" y="495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8C1D22"/>
                </a:solidFill>
                <a:latin typeface="Arial"/>
                <a:ea typeface="Arial"/>
                <a:cs typeface="Arial"/>
              </a:defRPr>
            </a:pPr>
            <a:r>
              <a:rPr sz="3300" b="1">
                <a:solidFill>
                  <a:srgbClr val="8C1D22"/>
                </a:solidFill>
                <a:latin typeface="Arial"/>
                <a:ea typeface="Arial"/>
                <a:cs typeface="Arial"/>
              </a:rPr>
              <a:t>Datos y adecuación al problema</a:t>
            </a:r>
          </a:p>
        </p:txBody>
      </p:sp>
      <p:sp>
        <p:nvSpPr>
          <p:cNvPr id="2" name="">
            <a:extLst xmlns:a="http://schemas.openxmlformats.org/drawingml/2006/main">
              <a:ext uri="{FF2B5EF4-FFF2-40B4-BE49-F238E27FC236}">
                <a16:creationId xmlns:a16="http://schemas.microsoft.com/office/drawing/2014/main" id="{F01671CC-C7EF-401B-9078-904C828E7516}"/>
              </a:ext>
            </a:extLst>
          </p:cNvPr>
          <p:cNvSpPr>
            <a:spLocks xmlns:a="http://schemas.openxmlformats.org/drawingml/2006/main" noGrp="1"/>
          </p:cNvSpPr>
          <p:nvPr/>
        </p:nvSpPr>
        <p:spPr>
          <a:xfrm xmlns:a="http://schemas.openxmlformats.org/drawingml/2006/main">
            <a:off x="11049000" y="63912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262"/>
                </a:solidFill>
                <a:latin typeface="Arial"/>
                <a:ea typeface="Arial"/>
                <a:cs typeface="Arial"/>
              </a:defRPr>
            </a:pPr>
            <a:r>
              <a:rPr sz="1275" b="0">
                <a:solidFill>
                  <a:srgbClr val="626262"/>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6A01D3E3-E0CB-4634-910D-6A36AA0E22B5}"/>
              </a:ext>
            </a:extLst>
          </p:cNvPr>
          <p:cNvSpPr>
            <a:spLocks xmlns:a="http://schemas.openxmlformats.org/drawingml/2006/main" noGrp="1"/>
          </p:cNvSpPr>
          <p:nvPr/>
        </p:nvSpPr>
        <p:spPr>
          <a:xfrm xmlns:a="http://schemas.openxmlformats.org/drawingml/2006/main">
            <a:off x="762000" y="1809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B2B2B"/>
                </a:solidFill>
                <a:latin typeface="Arial"/>
                <a:ea typeface="Arial"/>
                <a:cs typeface="Arial"/>
              </a:defRPr>
            </a:pPr>
            <a:r>
              <a:rPr sz="3000" b="1">
                <a:solidFill>
                  <a:srgbClr val="2B2B2B"/>
                </a:solidFill>
                <a:latin typeface="Arial"/>
                <a:ea typeface="Arial"/>
                <a:cs typeface="Arial"/>
              </a:rPr>
              <a:t>86.306 restaurantes asiáticos</a:t>
            </a:r>
          </a:p>
        </p:txBody>
      </p:sp>
      <p:sp>
        <p:nvSpPr>
          <p:cNvPr id="4" name="">
            <a:extLst xmlns:a="http://schemas.openxmlformats.org/drawingml/2006/main">
              <a:ext uri="{FF2B5EF4-FFF2-40B4-BE49-F238E27FC236}">
                <a16:creationId xmlns:a16="http://schemas.microsoft.com/office/drawing/2014/main" id="{E2D4A2DB-9595-4DE8-9628-06EBF076BF8F}"/>
              </a:ext>
            </a:extLst>
          </p:cNvPr>
          <p:cNvSpPr>
            <a:spLocks xmlns:a="http://schemas.openxmlformats.org/drawingml/2006/main" noGrp="1"/>
          </p:cNvSpPr>
          <p:nvPr/>
        </p:nvSpPr>
        <p:spPr>
          <a:xfrm xmlns:a="http://schemas.openxmlformats.org/drawingml/2006/main">
            <a:off x="762000" y="2524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B2B2B"/>
                </a:solidFill>
                <a:latin typeface="Arial"/>
                <a:ea typeface="Arial"/>
                <a:cs typeface="Arial"/>
              </a:defRPr>
            </a:pPr>
            <a:r>
              <a:rPr sz="2175" b="0">
                <a:solidFill>
                  <a:srgbClr val="2B2B2B"/>
                </a:solidFill>
                <a:latin typeface="Arial"/>
                <a:ea typeface="Arial"/>
                <a:cs typeface="Arial"/>
              </a:rPr>
              <a:t>81.315 con rating válido · 42 columnas de origen</a:t>
            </a:r>
          </a:p>
        </p:txBody>
      </p:sp>
      <p:sp>
        <p:nvSpPr>
          <p:cNvPr id="5" name="">
            <a:extLst xmlns:a="http://schemas.openxmlformats.org/drawingml/2006/main">
              <a:ext uri="{FF2B5EF4-FFF2-40B4-BE49-F238E27FC236}">
                <a16:creationId xmlns:a16="http://schemas.microsoft.com/office/drawing/2014/main" id="{40264DDD-0532-4120-AD32-79D8CB1ACE1C}"/>
              </a:ext>
            </a:extLst>
          </p:cNvPr>
          <p:cNvSpPr>
            <a:spLocks xmlns:a="http://schemas.openxmlformats.org/drawingml/2006/main" noGrp="1"/>
          </p:cNvSpPr>
          <p:nvPr/>
        </p:nvSpPr>
        <p:spPr>
          <a:xfrm xmlns:a="http://schemas.openxmlformats.org/drawingml/2006/main">
            <a:off x="762000" y="3381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B2B2B"/>
                </a:solidFill>
                <a:latin typeface="Arial"/>
                <a:ea typeface="Arial"/>
                <a:cs typeface="Arial"/>
              </a:defRPr>
            </a:pPr>
            <a:r>
              <a:rPr sz="2175" b="0">
                <a:solidFill>
                  <a:srgbClr val="2B2B2B"/>
                </a:solidFill>
                <a:latin typeface="Arial"/>
                <a:ea typeface="Arial"/>
                <a:cs typeface="Arial"/>
              </a:rPr>
              <a:t>Snapshot de 2021 · licencia declarada CC0</a:t>
            </a:r>
          </a:p>
        </p:txBody>
      </p:sp>
      <p:sp>
        <p:nvSpPr>
          <p:cNvPr id="6" name="">
            <a:extLst xmlns:a="http://schemas.openxmlformats.org/drawingml/2006/main">
              <a:ext uri="{FF2B5EF4-FFF2-40B4-BE49-F238E27FC236}">
                <a16:creationId xmlns:a16="http://schemas.microsoft.com/office/drawing/2014/main" id="{7769387A-A83B-4EEF-BE92-CAF143153CDB}"/>
              </a:ext>
            </a:extLst>
          </p:cNvPr>
          <p:cNvSpPr>
            <a:spLocks xmlns:a="http://schemas.openxmlformats.org/drawingml/2006/main" noGrp="1"/>
          </p:cNvSpPr>
          <p:nvPr/>
        </p:nvSpPr>
        <p:spPr>
          <a:xfrm xmlns:a="http://schemas.openxmlformats.org/drawingml/2006/main">
            <a:off x="762000" y="45243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8C1D22"/>
                </a:solidFill>
                <a:latin typeface="Arial"/>
                <a:ea typeface="Arial"/>
                <a:cs typeface="Arial"/>
              </a:defRPr>
            </a:pPr>
            <a:r>
              <a:rPr sz="2325" b="0">
                <a:solidFill>
                  <a:srgbClr val="8C1D22"/>
                </a:solidFill>
                <a:latin typeface="Arial"/>
                <a:ea typeface="Arial"/>
                <a:cs typeface="Arial"/>
              </a:rPr>
              <a:t>Limitación: cobertura de plataforma, datos ausentes y ausencia de ventas o beneficios</a:t>
            </a:r>
          </a:p>
        </p:txBody>
      </p:sp>
    </p:spTree>
    <p:extLst>
      <p:ext uri="{BB962C8B-B14F-4D97-AF65-F5344CB8AC3E}">
        <p14:creationId xmlns:p14="http://schemas.microsoft.com/office/powerpoint/2010/main" val="6460096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E7926A-4C2E-4D82-8A6F-EF76D19E1FA7}"/>
              </a:ext>
            </a:extLst>
          </p:cNvPr>
          <p:cNvSpPr>
            <a:spLocks xmlns:a="http://schemas.openxmlformats.org/drawingml/2006/main" noGrp="1"/>
          </p:cNvSpPr>
          <p:nvPr/>
        </p:nvSpPr>
        <p:spPr>
          <a:xfrm xmlns:a="http://schemas.openxmlformats.org/drawingml/2006/main">
            <a:off x="714375" y="495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8C1D22"/>
                </a:solidFill>
                <a:latin typeface="Arial"/>
                <a:ea typeface="Arial"/>
                <a:cs typeface="Arial"/>
              </a:defRPr>
            </a:pPr>
            <a:r>
              <a:rPr sz="3300" b="1">
                <a:solidFill>
                  <a:srgbClr val="8C1D22"/>
                </a:solidFill>
                <a:latin typeface="Arial"/>
                <a:ea typeface="Arial"/>
                <a:cs typeface="Arial"/>
              </a:rPr>
              <a:t>Comparación europea y foco en España</a:t>
            </a:r>
          </a:p>
        </p:txBody>
      </p:sp>
      <p:sp>
        <p:nvSpPr>
          <p:cNvPr id="2" name="">
            <a:extLst xmlns:a="http://schemas.openxmlformats.org/drawingml/2006/main">
              <a:ext uri="{FF2B5EF4-FFF2-40B4-BE49-F238E27FC236}">
                <a16:creationId xmlns:a16="http://schemas.microsoft.com/office/drawing/2014/main" id="{B2A8523C-192A-4965-BA4B-B108CED78D93}"/>
              </a:ext>
            </a:extLst>
          </p:cNvPr>
          <p:cNvSpPr>
            <a:spLocks xmlns:a="http://schemas.openxmlformats.org/drawingml/2006/main" noGrp="1"/>
          </p:cNvSpPr>
          <p:nvPr/>
        </p:nvSpPr>
        <p:spPr>
          <a:xfrm xmlns:a="http://schemas.openxmlformats.org/drawingml/2006/main">
            <a:off x="11049000" y="63912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262"/>
                </a:solidFill>
                <a:latin typeface="Arial"/>
                <a:ea typeface="Arial"/>
                <a:cs typeface="Arial"/>
              </a:defRPr>
            </a:pPr>
            <a:r>
              <a:rPr sz="1275" b="0">
                <a:solidFill>
                  <a:srgbClr val="626262"/>
                </a:solidFill>
                <a:latin typeface="Arial"/>
                <a:ea typeface="Arial"/>
                <a:cs typeface="Arial"/>
              </a:rPr>
              <a:t>3</a:t>
            </a:r>
          </a:p>
        </p:txBody>
      </p:sp>
      <p:graphicFrame>
        <p:nvGraphicFramePr>
          <p:cNvPr id="7" name="Chart"/>
          <p:cNvGraphicFramePr/>
          <p:nvPr/>
        </p:nvGraphicFramePr>
        <p:xfrm>
          <a:off xmlns:a="http://schemas.openxmlformats.org/drawingml/2006/main" x="857250" y="1666875"/>
          <a:ext xmlns:a="http://schemas.openxmlformats.org/drawingml/2006/main" cx="10096500" cy="3619500"/>
        </p:xfrm>
        <a:graphic xmlns:a="http://schemas.openxmlformats.org/drawingml/2006/main">
          <a:graphicData uri="http://schemas.openxmlformats.org/drawingml/2006/chart">
            <c:chart xmlns:r="http://schemas.openxmlformats.org/officeDocument/2006/relationships" xmlns:c="http://schemas.openxmlformats.org/drawingml/2006/chart" r:id="Reec8b24df4634c0d"/>
          </a:graphicData>
        </a:graphic>
      </p:graphicFrame>
      <p:sp>
        <p:nvSpPr>
          <p:cNvPr id="4" name="">
            <a:extLst xmlns:a="http://schemas.openxmlformats.org/drawingml/2006/main">
              <a:ext uri="{FF2B5EF4-FFF2-40B4-BE49-F238E27FC236}">
                <a16:creationId xmlns:a16="http://schemas.microsoft.com/office/drawing/2014/main" id="{BCA42A00-555E-4688-917B-723556FB1FF1}"/>
              </a:ext>
            </a:extLst>
          </p:cNvPr>
          <p:cNvSpPr>
            <a:spLocks xmlns:a="http://schemas.openxmlformats.org/drawingml/2006/main" noGrp="1"/>
          </p:cNvSpPr>
          <p:nvPr/>
        </p:nvSpPr>
        <p:spPr>
          <a:xfrm xmlns:a="http://schemas.openxmlformats.org/drawingml/2006/main">
            <a:off x="762000" y="54768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262"/>
                </a:solidFill>
                <a:latin typeface="Arial"/>
                <a:ea typeface="Arial"/>
                <a:cs typeface="Arial"/>
              </a:defRPr>
            </a:pPr>
            <a:r>
              <a:rPr sz="1875" b="0">
                <a:solidFill>
                  <a:srgbClr val="626262"/>
                </a:solidFill>
                <a:latin typeface="Arial"/>
                <a:ea typeface="Arial"/>
                <a:cs typeface="Arial"/>
              </a:rPr>
              <a:t>24 etiquetas territoriales; no 24 estados soberanos</a:t>
            </a:r>
          </a:p>
          <a:p xmlns:a="http://schemas.openxmlformats.org/drawingml/2006/main">
            <a:pPr>
              <a:defRPr sz="1875" b="0">
                <a:solidFill>
                  <a:srgbClr val="626262"/>
                </a:solidFill>
                <a:latin typeface="Arial"/>
                <a:ea typeface="Arial"/>
                <a:cs typeface="Arial"/>
              </a:defRPr>
            </a:pPr>
            <a:r>
              <a:rPr sz="1875" b="0">
                <a:solidFill>
                  <a:srgbClr val="626262"/>
                </a:solidFill>
                <a:latin typeface="Arial"/>
                <a:ea typeface="Arial"/>
                <a:cs typeface="Arial"/>
              </a:rPr>
              <a:t>Los recuentos no son un censo completo del mercado</a:t>
            </a:r>
          </a:p>
        </p:txBody>
      </p:sp>
    </p:spTree>
    <p:extLst>
      <p:ext uri="{BB962C8B-B14F-4D97-AF65-F5344CB8AC3E}">
        <p14:creationId xmlns:p14="http://schemas.microsoft.com/office/powerpoint/2010/main" val="17138122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841F54-A1B2-4A76-BCBF-9F8ADCD5C78F}"/>
              </a:ext>
            </a:extLst>
          </p:cNvPr>
          <p:cNvSpPr>
            <a:spLocks xmlns:a="http://schemas.openxmlformats.org/drawingml/2006/main" noGrp="1"/>
          </p:cNvSpPr>
          <p:nvPr/>
        </p:nvSpPr>
        <p:spPr>
          <a:xfrm xmlns:a="http://schemas.openxmlformats.org/drawingml/2006/main">
            <a:off x="714375" y="495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8C1D22"/>
                </a:solidFill>
                <a:latin typeface="Arial"/>
                <a:ea typeface="Arial"/>
                <a:cs typeface="Arial"/>
              </a:defRPr>
            </a:pPr>
            <a:r>
              <a:rPr sz="3300" b="1">
                <a:solidFill>
                  <a:srgbClr val="8C1D22"/>
                </a:solidFill>
                <a:latin typeface="Arial"/>
                <a:ea typeface="Arial"/>
                <a:cs typeface="Arial"/>
              </a:rPr>
              <a:t>Predicción y disponibilidad de información</a:t>
            </a:r>
          </a:p>
        </p:txBody>
      </p:sp>
      <p:sp>
        <p:nvSpPr>
          <p:cNvPr id="2" name="">
            <a:extLst xmlns:a="http://schemas.openxmlformats.org/drawingml/2006/main">
              <a:ext uri="{FF2B5EF4-FFF2-40B4-BE49-F238E27FC236}">
                <a16:creationId xmlns:a16="http://schemas.microsoft.com/office/drawing/2014/main" id="{8446AF63-4740-4F7C-9C8A-402E91D3152A}"/>
              </a:ext>
            </a:extLst>
          </p:cNvPr>
          <p:cNvSpPr>
            <a:spLocks xmlns:a="http://schemas.openxmlformats.org/drawingml/2006/main" noGrp="1"/>
          </p:cNvSpPr>
          <p:nvPr/>
        </p:nvSpPr>
        <p:spPr>
          <a:xfrm xmlns:a="http://schemas.openxmlformats.org/drawingml/2006/main">
            <a:off x="11049000" y="63912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262"/>
                </a:solidFill>
                <a:latin typeface="Arial"/>
                <a:ea typeface="Arial"/>
                <a:cs typeface="Arial"/>
              </a:defRPr>
            </a:pPr>
            <a:r>
              <a:rPr sz="1275" b="0">
                <a:solidFill>
                  <a:srgbClr val="626262"/>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F2BD96CB-C892-4304-A526-DBB0BC841685}"/>
              </a:ext>
            </a:extLst>
          </p:cNvPr>
          <p:cNvSpPr>
            <a:spLocks xmlns:a="http://schemas.openxmlformats.org/drawingml/2006/main" noGrp="1"/>
          </p:cNvSpPr>
          <p:nvPr/>
        </p:nvSpPr>
        <p:spPr>
          <a:xfrm xmlns:a="http://schemas.openxmlformats.org/drawingml/2006/main">
            <a:off x="762000" y="176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8C1D22"/>
                </a:solidFill>
                <a:latin typeface="Arial"/>
                <a:ea typeface="Arial"/>
                <a:cs typeface="Arial"/>
              </a:defRPr>
            </a:pPr>
            <a:r>
              <a:rPr sz="2550" b="1">
                <a:solidFill>
                  <a:srgbClr val="8C1D22"/>
                </a:solidFill>
                <a:latin typeface="Arial"/>
                <a:ea typeface="Arial"/>
                <a:cs typeface="Arial"/>
              </a:rPr>
              <a:t>Sin reputación</a:t>
            </a:r>
          </a:p>
        </p:txBody>
      </p:sp>
      <p:sp>
        <p:nvSpPr>
          <p:cNvPr id="4" name="">
            <a:extLst xmlns:a="http://schemas.openxmlformats.org/drawingml/2006/main">
              <a:ext uri="{FF2B5EF4-FFF2-40B4-BE49-F238E27FC236}">
                <a16:creationId xmlns:a16="http://schemas.microsoft.com/office/drawing/2014/main" id="{ABD1DB80-D5E8-4191-87B2-968FAC12A423}"/>
              </a:ext>
            </a:extLst>
          </p:cNvPr>
          <p:cNvSpPr>
            <a:spLocks xmlns:a="http://schemas.openxmlformats.org/drawingml/2006/main" noGrp="1"/>
          </p:cNvSpPr>
          <p:nvPr/>
        </p:nvSpPr>
        <p:spPr>
          <a:xfrm xmlns:a="http://schemas.openxmlformats.org/drawingml/2006/main">
            <a:off x="762000" y="23431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B2B2B"/>
                </a:solidFill>
                <a:latin typeface="Arial"/>
                <a:ea typeface="Arial"/>
                <a:cs typeface="Arial"/>
              </a:defRPr>
            </a:pPr>
            <a:r>
              <a:rPr sz="2250" b="0">
                <a:solidFill>
                  <a:srgbClr val="2B2B2B"/>
                </a:solidFill>
                <a:latin typeface="Arial"/>
                <a:ea typeface="Arial"/>
                <a:cs typeface="Arial"/>
              </a:rPr>
              <a:t>Ubicación, horarios, precio, dietas y etiquetas de cocina</a:t>
            </a:r>
          </a:p>
        </p:txBody>
      </p:sp>
      <p:sp>
        <p:nvSpPr>
          <p:cNvPr id="5" name="">
            <a:extLst xmlns:a="http://schemas.openxmlformats.org/drawingml/2006/main">
              <a:ext uri="{FF2B5EF4-FFF2-40B4-BE49-F238E27FC236}">
                <a16:creationId xmlns:a16="http://schemas.microsoft.com/office/drawing/2014/main" id="{5C5909E2-FD22-443A-A426-9E8A264EF3BA}"/>
              </a:ext>
            </a:extLst>
          </p:cNvPr>
          <p:cNvSpPr>
            <a:spLocks xmlns:a="http://schemas.openxmlformats.org/drawingml/2006/main" noGrp="1"/>
          </p:cNvSpPr>
          <p:nvPr/>
        </p:nvSpPr>
        <p:spPr>
          <a:xfrm xmlns:a="http://schemas.openxmlformats.org/drawingml/2006/main">
            <a:off x="762000" y="3333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8C1D22"/>
                </a:solidFill>
                <a:latin typeface="Arial"/>
                <a:ea typeface="Arial"/>
                <a:cs typeface="Arial"/>
              </a:defRPr>
            </a:pPr>
            <a:r>
              <a:rPr sz="2550" b="1">
                <a:solidFill>
                  <a:srgbClr val="8C1D22"/>
                </a:solidFill>
                <a:latin typeface="Arial"/>
                <a:ea typeface="Arial"/>
                <a:cs typeface="Arial"/>
              </a:rPr>
              <a:t>Con reputación</a:t>
            </a:r>
          </a:p>
        </p:txBody>
      </p:sp>
      <p:sp>
        <p:nvSpPr>
          <p:cNvPr id="6" name="">
            <a:extLst xmlns:a="http://schemas.openxmlformats.org/drawingml/2006/main">
              <a:ext uri="{FF2B5EF4-FFF2-40B4-BE49-F238E27FC236}">
                <a16:creationId xmlns:a16="http://schemas.microsoft.com/office/drawing/2014/main" id="{D23F7217-54FA-4781-A6B3-5640F054C160}"/>
              </a:ext>
            </a:extLst>
          </p:cNvPr>
          <p:cNvSpPr>
            <a:spLocks xmlns:a="http://schemas.openxmlformats.org/drawingml/2006/main" noGrp="1"/>
          </p:cNvSpPr>
          <p:nvPr/>
        </p:nvSpPr>
        <p:spPr>
          <a:xfrm xmlns:a="http://schemas.openxmlformats.org/drawingml/2006/main">
            <a:off x="762000" y="39338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B2B2B"/>
                </a:solidFill>
                <a:latin typeface="Arial"/>
                <a:ea typeface="Arial"/>
                <a:cs typeface="Arial"/>
              </a:defRPr>
            </a:pPr>
            <a:r>
              <a:rPr sz="2250" b="0">
                <a:solidFill>
                  <a:srgbClr val="2B2B2B"/>
                </a:solidFill>
                <a:latin typeface="Arial"/>
                <a:ea typeface="Arial"/>
                <a:cs typeface="Arial"/>
              </a:rPr>
              <a:t>Las anteriores + subpuntuaciones y número de reseñas</a:t>
            </a:r>
          </a:p>
        </p:txBody>
      </p:sp>
      <p:sp>
        <p:nvSpPr>
          <p:cNvPr id="7" name="">
            <a:extLst xmlns:a="http://schemas.openxmlformats.org/drawingml/2006/main">
              <a:ext uri="{FF2B5EF4-FFF2-40B4-BE49-F238E27FC236}">
                <a16:creationId xmlns:a16="http://schemas.microsoft.com/office/drawing/2014/main" id="{34EEA27E-86FB-4341-9826-EF5871E9B1D7}"/>
              </a:ext>
            </a:extLst>
          </p:cNvPr>
          <p:cNvSpPr>
            <a:spLocks xmlns:a="http://schemas.openxmlformats.org/drawingml/2006/main" noGrp="1"/>
          </p:cNvSpPr>
          <p:nvPr/>
        </p:nvSpPr>
        <p:spPr>
          <a:xfrm xmlns:a="http://schemas.openxmlformats.org/drawingml/2006/main">
            <a:off x="762000" y="52387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B2B2B"/>
                </a:solidFill>
                <a:latin typeface="Arial"/>
                <a:ea typeface="Arial"/>
                <a:cs typeface="Arial"/>
              </a:defRPr>
            </a:pPr>
            <a:r>
              <a:rPr sz="2100" b="1">
                <a:solidFill>
                  <a:srgbClr val="2B2B2B"/>
                </a:solidFill>
                <a:latin typeface="Arial"/>
                <a:ea typeface="Arial"/>
                <a:cs typeface="Arial"/>
              </a:rPr>
              <a:t>Objetivo: rating histórico de establecimientos existentes</a:t>
            </a:r>
          </a:p>
        </p:txBody>
      </p:sp>
    </p:spTree>
    <p:extLst>
      <p:ext uri="{BB962C8B-B14F-4D97-AF65-F5344CB8AC3E}">
        <p14:creationId xmlns:p14="http://schemas.microsoft.com/office/powerpoint/2010/main" val="5492599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53B906-5F60-4BCB-AC35-AD49D4404D56}"/>
              </a:ext>
            </a:extLst>
          </p:cNvPr>
          <p:cNvSpPr>
            <a:spLocks xmlns:a="http://schemas.openxmlformats.org/drawingml/2006/main" noGrp="1"/>
          </p:cNvSpPr>
          <p:nvPr/>
        </p:nvSpPr>
        <p:spPr>
          <a:xfrm xmlns:a="http://schemas.openxmlformats.org/drawingml/2006/main">
            <a:off x="714375" y="495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8C1D22"/>
                </a:solidFill>
                <a:latin typeface="Arial"/>
                <a:ea typeface="Arial"/>
                <a:cs typeface="Arial"/>
              </a:defRPr>
            </a:pPr>
            <a:r>
              <a:rPr sz="3300" b="1">
                <a:solidFill>
                  <a:srgbClr val="8C1D22"/>
                </a:solidFill>
                <a:latin typeface="Arial"/>
                <a:ea typeface="Arial"/>
                <a:cs typeface="Arial"/>
              </a:rPr>
              <a:t>Selección de modelos en validación</a:t>
            </a:r>
          </a:p>
        </p:txBody>
      </p:sp>
      <p:sp>
        <p:nvSpPr>
          <p:cNvPr id="2" name="">
            <a:extLst xmlns:a="http://schemas.openxmlformats.org/drawingml/2006/main">
              <a:ext uri="{FF2B5EF4-FFF2-40B4-BE49-F238E27FC236}">
                <a16:creationId xmlns:a16="http://schemas.microsoft.com/office/drawing/2014/main" id="{40284155-61D1-4B6E-BFC0-514D88A9AE15}"/>
              </a:ext>
            </a:extLst>
          </p:cNvPr>
          <p:cNvSpPr>
            <a:spLocks xmlns:a="http://schemas.openxmlformats.org/drawingml/2006/main" noGrp="1"/>
          </p:cNvSpPr>
          <p:nvPr/>
        </p:nvSpPr>
        <p:spPr>
          <a:xfrm xmlns:a="http://schemas.openxmlformats.org/drawingml/2006/main">
            <a:off x="11049000" y="63912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262"/>
                </a:solidFill>
                <a:latin typeface="Arial"/>
                <a:ea typeface="Arial"/>
                <a:cs typeface="Arial"/>
              </a:defRPr>
            </a:pPr>
            <a:r>
              <a:rPr sz="1275" b="0">
                <a:solidFill>
                  <a:srgbClr val="626262"/>
                </a:solidFill>
                <a:latin typeface="Arial"/>
                <a:ea typeface="Arial"/>
                <a:cs typeface="Arial"/>
              </a:rPr>
              <a:t>5</a:t>
            </a:r>
          </a:p>
        </p:txBody>
      </p:sp>
      <p:graphicFrame>
        <p:nvGraphicFramePr>
          <p:cNvPr id="8" name=""/>
          <p:cNvGraphicFramePr/>
          <p:nvPr/>
        </p:nvGraphicFramePr>
        <p:xfrm>
          <a:off xmlns:a="http://schemas.openxmlformats.org/drawingml/2006/main" x="762000" y="2143125"/>
          <a:ext xmlns:a="http://schemas.openxmlformats.org/drawingml/2006/main" cx="10668000" cy="2762250"/>
        </p:xfrm>
        <a:graphic xmlns:a="http://schemas.openxmlformats.org/drawingml/2006/main">
          <a:graphicData uri="http://schemas.openxmlformats.org/drawingml/2006/table">
            <a:tbl>
              <a:tblPr/>
              <a:tblGrid>
                <a:gridCol w="5048250"/>
                <a:gridCol w="2809875"/>
                <a:gridCol w="2809875"/>
              </a:tblGrid>
              <a:tr h="552450">
                <a:tc>
                  <a:txBody>
                    <a:bodyPr/>
                    <a:lstStyle/>
                    <a:p>
                      <a:r>
                        <a:rPr sz="1875" b="1">
                          <a:solidFill>
                            <a:srgbClr val="2B2B2B"/>
                          </a:solidFill>
                          <a:latin typeface="Arial"/>
                          <a:ea typeface="Arial"/>
                          <a:cs typeface="Arial"/>
                        </a:rPr>
                        <a:t>Modelo sin reputación</a:t>
                      </a:r>
                    </a:p>
                  </a:txBody>
                  <a:tcPr marL="91440" marR="91440" marT="45720" marB="45720">
                    <a:solidFill>
                      <a:srgbClr val="F4E9D8"/>
                    </a:solidFill>
                  </a:tcPr>
                </a:tc>
                <a:tc>
                  <a:txBody>
                    <a:bodyPr/>
                    <a:lstStyle/>
                    <a:p>
                      <a:r>
                        <a:rPr sz="1875" b="1">
                          <a:solidFill>
                            <a:srgbClr val="2B2B2B"/>
                          </a:solidFill>
                          <a:latin typeface="Arial"/>
                          <a:ea typeface="Arial"/>
                          <a:cs typeface="Arial"/>
                        </a:rPr>
                        <a:t>RMSE validación</a:t>
                      </a:r>
                    </a:p>
                  </a:txBody>
                  <a:tcPr marL="91440" marR="91440" marT="45720" marB="45720">
                    <a:solidFill>
                      <a:srgbClr val="F4E9D8"/>
                    </a:solidFill>
                  </a:tcPr>
                </a:tc>
                <a:tc>
                  <a:txBody>
                    <a:bodyPr/>
                    <a:lstStyle/>
                    <a:p>
                      <a:r>
                        <a:rPr sz="1875" b="1">
                          <a:solidFill>
                            <a:srgbClr val="2B2B2B"/>
                          </a:solidFill>
                          <a:latin typeface="Arial"/>
                          <a:ea typeface="Arial"/>
                          <a:cs typeface="Arial"/>
                        </a:rPr>
                        <a:t>MAE validación</a:t>
                      </a:r>
                    </a:p>
                  </a:txBody>
                  <a:tcPr marL="91440" marR="91440" marT="45720" marB="45720">
                    <a:solidFill>
                      <a:srgbClr val="F4E9D8"/>
                    </a:solidFill>
                  </a:tcPr>
                </a:tc>
              </a:tr>
              <a:tr h="552450">
                <a:tc>
                  <a:txBody>
                    <a:bodyPr/>
                    <a:lstStyle/>
                    <a:p>
                      <a:r>
                        <a:rPr sz="1875" b="0">
                          <a:solidFill>
                            <a:srgbClr val="2B2B2B"/>
                          </a:solidFill>
                          <a:latin typeface="Arial"/>
                          <a:ea typeface="Arial"/>
                          <a:cs typeface="Arial"/>
                        </a:rPr>
                        <a:t>Media</a:t>
                      </a:r>
                    </a:p>
                  </a:txBody>
                  <a:tcPr marL="91440" marR="91440" marT="45720" marB="45720">
                    <a:solidFill>
                      <a:srgbClr val="F7F7F7"/>
                    </a:solidFill>
                  </a:tcPr>
                </a:tc>
                <a:tc>
                  <a:txBody>
                    <a:bodyPr/>
                    <a:lstStyle/>
                    <a:p>
                      <a:r>
                        <a:rPr sz="1875" b="0">
                          <a:solidFill>
                            <a:srgbClr val="2B2B2B"/>
                          </a:solidFill>
                          <a:latin typeface="Arial"/>
                          <a:ea typeface="Arial"/>
                          <a:cs typeface="Arial"/>
                        </a:rPr>
                        <a:t>0.681</a:t>
                      </a:r>
                    </a:p>
                  </a:txBody>
                  <a:tcPr marL="91440" marR="91440" marT="45720" marB="45720">
                    <a:solidFill>
                      <a:srgbClr val="F7F7F7"/>
                    </a:solidFill>
                  </a:tcPr>
                </a:tc>
                <a:tc>
                  <a:txBody>
                    <a:bodyPr/>
                    <a:lstStyle/>
                    <a:p>
                      <a:r>
                        <a:rPr sz="1875" b="0">
                          <a:solidFill>
                            <a:srgbClr val="2B2B2B"/>
                          </a:solidFill>
                          <a:latin typeface="Arial"/>
                          <a:ea typeface="Arial"/>
                          <a:cs typeface="Arial"/>
                        </a:rPr>
                        <a:t>0.501</a:t>
                      </a:r>
                    </a:p>
                  </a:txBody>
                  <a:tcPr marL="91440" marR="91440" marT="45720" marB="45720">
                    <a:solidFill>
                      <a:srgbClr val="F7F7F7"/>
                    </a:solidFill>
                  </a:tcPr>
                </a:tc>
              </a:tr>
              <a:tr h="552450">
                <a:tc>
                  <a:txBody>
                    <a:bodyPr/>
                    <a:lstStyle/>
                    <a:p>
                      <a:r>
                        <a:rPr sz="1875" b="0">
                          <a:solidFill>
                            <a:srgbClr val="2B2B2B"/>
                          </a:solidFill>
                          <a:latin typeface="Arial"/>
                          <a:ea typeface="Arial"/>
                          <a:cs typeface="Arial"/>
                        </a:rPr>
                        <a:t>Lineal</a:t>
                      </a:r>
                    </a:p>
                  </a:txBody>
                  <a:tcPr marL="91440" marR="91440" marT="45720" marB="45720">
                    <a:solidFill>
                      <a:srgbClr val="FFFFFF"/>
                    </a:solidFill>
                  </a:tcPr>
                </a:tc>
                <a:tc>
                  <a:txBody>
                    <a:bodyPr/>
                    <a:lstStyle/>
                    <a:p>
                      <a:r>
                        <a:rPr sz="1875" b="0">
                          <a:solidFill>
                            <a:srgbClr val="2B2B2B"/>
                          </a:solidFill>
                          <a:latin typeface="Arial"/>
                          <a:ea typeface="Arial"/>
                          <a:cs typeface="Arial"/>
                        </a:rPr>
                        <a:t>0.633</a:t>
                      </a:r>
                    </a:p>
                  </a:txBody>
                  <a:tcPr marL="91440" marR="91440" marT="45720" marB="45720">
                    <a:solidFill>
                      <a:srgbClr val="FFFFFF"/>
                    </a:solidFill>
                  </a:tcPr>
                </a:tc>
                <a:tc>
                  <a:txBody>
                    <a:bodyPr/>
                    <a:lstStyle/>
                    <a:p>
                      <a:r>
                        <a:rPr sz="1875" b="0">
                          <a:solidFill>
                            <a:srgbClr val="2B2B2B"/>
                          </a:solidFill>
                          <a:latin typeface="Arial"/>
                          <a:ea typeface="Arial"/>
                          <a:cs typeface="Arial"/>
                        </a:rPr>
                        <a:t>0.478</a:t>
                      </a:r>
                    </a:p>
                  </a:txBody>
                  <a:tcPr marL="91440" marR="91440" marT="45720" marB="45720">
                    <a:solidFill>
                      <a:srgbClr val="FFFFFF"/>
                    </a:solidFill>
                  </a:tcPr>
                </a:tc>
              </a:tr>
              <a:tr h="552450">
                <a:tc>
                  <a:txBody>
                    <a:bodyPr/>
                    <a:lstStyle/>
                    <a:p>
                      <a:r>
                        <a:rPr sz="1875" b="0">
                          <a:solidFill>
                            <a:srgbClr val="2B2B2B"/>
                          </a:solidFill>
                          <a:latin typeface="Arial"/>
                          <a:ea typeface="Arial"/>
                          <a:cs typeface="Arial"/>
                        </a:rPr>
                        <a:t>RandomForest</a:t>
                      </a:r>
                    </a:p>
                  </a:txBody>
                  <a:tcPr marL="91440" marR="91440" marT="45720" marB="45720">
                    <a:solidFill>
                      <a:srgbClr val="F7F7F7"/>
                    </a:solidFill>
                  </a:tcPr>
                </a:tc>
                <a:tc>
                  <a:txBody>
                    <a:bodyPr/>
                    <a:lstStyle/>
                    <a:p>
                      <a:r>
                        <a:rPr sz="1875" b="0">
                          <a:solidFill>
                            <a:srgbClr val="2B2B2B"/>
                          </a:solidFill>
                          <a:latin typeface="Arial"/>
                          <a:ea typeface="Arial"/>
                          <a:cs typeface="Arial"/>
                        </a:rPr>
                        <a:t>0.620</a:t>
                      </a:r>
                    </a:p>
                  </a:txBody>
                  <a:tcPr marL="91440" marR="91440" marT="45720" marB="45720">
                    <a:solidFill>
                      <a:srgbClr val="F7F7F7"/>
                    </a:solidFill>
                  </a:tcPr>
                </a:tc>
                <a:tc>
                  <a:txBody>
                    <a:bodyPr/>
                    <a:lstStyle/>
                    <a:p>
                      <a:r>
                        <a:rPr sz="1875" b="0">
                          <a:solidFill>
                            <a:srgbClr val="2B2B2B"/>
                          </a:solidFill>
                          <a:latin typeface="Arial"/>
                          <a:ea typeface="Arial"/>
                          <a:cs typeface="Arial"/>
                        </a:rPr>
                        <a:t>0.460</a:t>
                      </a:r>
                    </a:p>
                  </a:txBody>
                  <a:tcPr marL="91440" marR="91440" marT="45720" marB="45720">
                    <a:solidFill>
                      <a:srgbClr val="F7F7F7"/>
                    </a:solidFill>
                  </a:tcPr>
                </a:tc>
              </a:tr>
              <a:tr h="552450">
                <a:tc>
                  <a:txBody>
                    <a:bodyPr/>
                    <a:lstStyle/>
                    <a:p>
                      <a:r>
                        <a:rPr sz="1875" b="0">
                          <a:solidFill>
                            <a:srgbClr val="2B2B2B"/>
                          </a:solidFill>
                          <a:latin typeface="Arial"/>
                          <a:ea typeface="Arial"/>
                          <a:cs typeface="Arial"/>
                        </a:rPr>
                        <a:t>XGBoost</a:t>
                      </a:r>
                    </a:p>
                  </a:txBody>
                  <a:tcPr marL="91440" marR="91440" marT="45720" marB="45720">
                    <a:solidFill>
                      <a:srgbClr val="FFFFFF"/>
                    </a:solidFill>
                  </a:tcPr>
                </a:tc>
                <a:tc>
                  <a:txBody>
                    <a:bodyPr/>
                    <a:lstStyle/>
                    <a:p>
                      <a:r>
                        <a:rPr sz="1875" b="0">
                          <a:solidFill>
                            <a:srgbClr val="2B2B2B"/>
                          </a:solidFill>
                          <a:latin typeface="Arial"/>
                          <a:ea typeface="Arial"/>
                          <a:cs typeface="Arial"/>
                        </a:rPr>
                        <a:t>0.621</a:t>
                      </a:r>
                    </a:p>
                  </a:txBody>
                  <a:tcPr marL="91440" marR="91440" marT="45720" marB="45720">
                    <a:solidFill>
                      <a:srgbClr val="FFFFFF"/>
                    </a:solidFill>
                  </a:tcPr>
                </a:tc>
                <a:tc>
                  <a:txBody>
                    <a:bodyPr/>
                    <a:lstStyle/>
                    <a:p>
                      <a:r>
                        <a:rPr sz="1875" b="0">
                          <a:solidFill>
                            <a:srgbClr val="2B2B2B"/>
                          </a:solidFill>
                          <a:latin typeface="Arial"/>
                          <a:ea typeface="Arial"/>
                          <a:cs typeface="Arial"/>
                        </a:rPr>
                        <a:t>0.463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96C7595-AE64-4F26-93ED-A019E485E912}"/>
              </a:ext>
            </a:extLst>
          </p:cNvPr>
          <p:cNvSpPr>
            <a:spLocks xmlns:a="http://schemas.openxmlformats.org/drawingml/2006/main" noGrp="1"/>
          </p:cNvSpPr>
          <p:nvPr/>
        </p:nvSpPr>
        <p:spPr>
          <a:xfrm xmlns:a="http://schemas.openxmlformats.org/drawingml/2006/main">
            <a:off x="762000" y="161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B2B2B"/>
                </a:solidFill>
                <a:latin typeface="Arial"/>
                <a:ea typeface="Arial"/>
                <a:cs typeface="Arial"/>
              </a:defRPr>
            </a:pPr>
            <a:r>
              <a:rPr sz="2100" b="0">
                <a:solidFill>
                  <a:srgbClr val="2B2B2B"/>
                </a:solidFill>
                <a:latin typeface="Arial"/>
                <a:ea typeface="Arial"/>
                <a:cs typeface="Arial"/>
              </a:rPr>
              <a:t>60% entrenamiento · 20% validación · 20% test</a:t>
            </a:r>
          </a:p>
        </p:txBody>
      </p:sp>
      <p:sp>
        <p:nvSpPr>
          <p:cNvPr id="5" name="">
            <a:extLst xmlns:a="http://schemas.openxmlformats.org/drawingml/2006/main">
              <a:ext uri="{FF2B5EF4-FFF2-40B4-BE49-F238E27FC236}">
                <a16:creationId xmlns:a16="http://schemas.microsoft.com/office/drawing/2014/main" id="{286E6010-5BAE-463D-890A-D932EC900231}"/>
              </a:ext>
            </a:extLst>
          </p:cNvPr>
          <p:cNvSpPr>
            <a:spLocks xmlns:a="http://schemas.openxmlformats.org/drawingml/2006/main" noGrp="1"/>
          </p:cNvSpPr>
          <p:nvPr/>
        </p:nvSpPr>
        <p:spPr>
          <a:xfrm xmlns:a="http://schemas.openxmlformats.org/drawingml/2006/main">
            <a:off x="762000" y="53149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26262"/>
                </a:solidFill>
                <a:latin typeface="Arial"/>
                <a:ea typeface="Arial"/>
                <a:cs typeface="Arial"/>
              </a:defRPr>
            </a:pPr>
            <a:r>
              <a:rPr sz="2025" b="0">
                <a:solidFill>
                  <a:srgbClr val="626262"/>
                </a:solidFill>
                <a:latin typeface="Arial"/>
                <a:ea typeface="Arial"/>
                <a:cs typeface="Arial"/>
              </a:rPr>
              <a:t>Selección por RMSE; reajuste final con el 80% de los datos</a:t>
            </a:r>
          </a:p>
        </p:txBody>
      </p:sp>
    </p:spTree>
    <p:extLst>
      <p:ext uri="{BB962C8B-B14F-4D97-AF65-F5344CB8AC3E}">
        <p14:creationId xmlns:p14="http://schemas.microsoft.com/office/powerpoint/2010/main" val="947930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BB5948-CAA1-4CEC-B599-C5A702EC00D6}"/>
              </a:ext>
            </a:extLst>
          </p:cNvPr>
          <p:cNvSpPr>
            <a:spLocks xmlns:a="http://schemas.openxmlformats.org/drawingml/2006/main" noGrp="1"/>
          </p:cNvSpPr>
          <p:nvPr/>
        </p:nvSpPr>
        <p:spPr>
          <a:xfrm xmlns:a="http://schemas.openxmlformats.org/drawingml/2006/main">
            <a:off x="714375" y="495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8C1D22"/>
                </a:solidFill>
                <a:latin typeface="Arial"/>
                <a:ea typeface="Arial"/>
                <a:cs typeface="Arial"/>
              </a:defRPr>
            </a:pPr>
            <a:r>
              <a:rPr sz="3300" b="1">
                <a:solidFill>
                  <a:srgbClr val="8C1D22"/>
                </a:solidFill>
                <a:latin typeface="Arial"/>
                <a:ea typeface="Arial"/>
                <a:cs typeface="Arial"/>
              </a:rPr>
              <a:t>Error de predicción en test: RMSE</a:t>
            </a:r>
          </a:p>
        </p:txBody>
      </p:sp>
      <p:sp>
        <p:nvSpPr>
          <p:cNvPr id="2" name="">
            <a:extLst xmlns:a="http://schemas.openxmlformats.org/drawingml/2006/main">
              <a:ext uri="{FF2B5EF4-FFF2-40B4-BE49-F238E27FC236}">
                <a16:creationId xmlns:a16="http://schemas.microsoft.com/office/drawing/2014/main" id="{F172CE1B-10CB-47AD-AE73-2CA87E6F35C2}"/>
              </a:ext>
            </a:extLst>
          </p:cNvPr>
          <p:cNvSpPr>
            <a:spLocks xmlns:a="http://schemas.openxmlformats.org/drawingml/2006/main" noGrp="1"/>
          </p:cNvSpPr>
          <p:nvPr/>
        </p:nvSpPr>
        <p:spPr>
          <a:xfrm xmlns:a="http://schemas.openxmlformats.org/drawingml/2006/main">
            <a:off x="11049000" y="63912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262"/>
                </a:solidFill>
                <a:latin typeface="Arial"/>
                <a:ea typeface="Arial"/>
                <a:cs typeface="Arial"/>
              </a:defRPr>
            </a:pPr>
            <a:r>
              <a:rPr sz="1275" b="0">
                <a:solidFill>
                  <a:srgbClr val="626262"/>
                </a:solidFill>
                <a:latin typeface="Arial"/>
                <a:ea typeface="Arial"/>
                <a:cs typeface="Arial"/>
              </a:rPr>
              <a:t>6</a:t>
            </a:r>
          </a:p>
        </p:txBody>
      </p:sp>
      <p:graphicFrame>
        <p:nvGraphicFramePr>
          <p:cNvPr id="8" name="Chart"/>
          <p:cNvGraphicFramePr/>
          <p:nvPr/>
        </p:nvGraphicFramePr>
        <p:xfrm>
          <a:off xmlns:a="http://schemas.openxmlformats.org/drawingml/2006/main" x="857250" y="1714500"/>
          <a:ext xmlns:a="http://schemas.openxmlformats.org/drawingml/2006/main" cx="10096500" cy="3333750"/>
        </p:xfrm>
        <a:graphic xmlns:a="http://schemas.openxmlformats.org/drawingml/2006/main">
          <a:graphicData uri="http://schemas.openxmlformats.org/drawingml/2006/chart">
            <c:chart xmlns:r="http://schemas.openxmlformats.org/officeDocument/2006/relationships" xmlns:c="http://schemas.openxmlformats.org/drawingml/2006/chart" r:id="R55fef3a220d94aed"/>
          </a:graphicData>
        </a:graphic>
      </p:graphicFrame>
      <p:sp>
        <p:nvSpPr>
          <p:cNvPr id="4" name="">
            <a:extLst xmlns:a="http://schemas.openxmlformats.org/drawingml/2006/main">
              <a:ext uri="{FF2B5EF4-FFF2-40B4-BE49-F238E27FC236}">
                <a16:creationId xmlns:a16="http://schemas.microsoft.com/office/drawing/2014/main" id="{6DF2717B-D5E7-4B22-8BE9-17387D373816}"/>
              </a:ext>
            </a:extLst>
          </p:cNvPr>
          <p:cNvSpPr>
            <a:spLocks xmlns:a="http://schemas.openxmlformats.org/drawingml/2006/main" noGrp="1"/>
          </p:cNvSpPr>
          <p:nvPr/>
        </p:nvSpPr>
        <p:spPr>
          <a:xfrm xmlns:a="http://schemas.openxmlformats.org/drawingml/2006/main">
            <a:off x="762000" y="5238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C1D22"/>
                </a:solidFill>
                <a:latin typeface="Arial"/>
                <a:ea typeface="Arial"/>
                <a:cs typeface="Arial"/>
              </a:defRPr>
            </a:pPr>
            <a:r>
              <a:rPr sz="2250" b="1">
                <a:solidFill>
                  <a:srgbClr val="8C1D22"/>
                </a:solidFill>
                <a:latin typeface="Arial"/>
                <a:ea typeface="Arial"/>
                <a:cs typeface="Arial"/>
              </a:rPr>
              <a:t>MAE: 0,462 sin reputación · 0,361 con reputación</a:t>
            </a:r>
          </a:p>
        </p:txBody>
      </p:sp>
      <p:sp>
        <p:nvSpPr>
          <p:cNvPr id="5" name="">
            <a:extLst xmlns:a="http://schemas.openxmlformats.org/drawingml/2006/main">
              <a:ext uri="{FF2B5EF4-FFF2-40B4-BE49-F238E27FC236}">
                <a16:creationId xmlns:a16="http://schemas.microsoft.com/office/drawing/2014/main" id="{A8022BE4-380F-49B0-83C4-64560EED553B}"/>
              </a:ext>
            </a:extLst>
          </p:cNvPr>
          <p:cNvSpPr>
            <a:spLocks xmlns:a="http://schemas.openxmlformats.org/drawingml/2006/main" noGrp="1"/>
          </p:cNvSpPr>
          <p:nvPr/>
        </p:nvSpPr>
        <p:spPr>
          <a:xfrm xmlns:a="http://schemas.openxmlformats.org/drawingml/2006/main">
            <a:off x="762000" y="5810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6262"/>
                </a:solidFill>
                <a:latin typeface="Arial"/>
                <a:ea typeface="Arial"/>
                <a:cs typeface="Arial"/>
              </a:defRPr>
            </a:pPr>
            <a:r>
              <a:rPr sz="1725" b="0">
                <a:solidFill>
                  <a:srgbClr val="626262"/>
                </a:solidFill>
                <a:latin typeface="Arial"/>
                <a:ea typeface="Arial"/>
                <a:cs typeface="Arial"/>
              </a:rPr>
              <a:t>Test común: 16.263 restaurantes · menor error es mejor</a:t>
            </a:r>
          </a:p>
        </p:txBody>
      </p:sp>
    </p:spTree>
    <p:extLst>
      <p:ext uri="{BB962C8B-B14F-4D97-AF65-F5344CB8AC3E}">
        <p14:creationId xmlns:p14="http://schemas.microsoft.com/office/powerpoint/2010/main" val="4691618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6B6BFD-F858-4C8E-9CA2-84637E96E04E}"/>
              </a:ext>
            </a:extLst>
          </p:cNvPr>
          <p:cNvSpPr>
            <a:spLocks xmlns:a="http://schemas.openxmlformats.org/drawingml/2006/main" noGrp="1"/>
          </p:cNvSpPr>
          <p:nvPr/>
        </p:nvSpPr>
        <p:spPr>
          <a:xfrm xmlns:a="http://schemas.openxmlformats.org/drawingml/2006/main">
            <a:off x="714375" y="495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8C1D22"/>
                </a:solidFill>
                <a:latin typeface="Arial"/>
                <a:ea typeface="Arial"/>
                <a:cs typeface="Arial"/>
              </a:defRPr>
            </a:pPr>
            <a:r>
              <a:rPr sz="3300" b="1">
                <a:solidFill>
                  <a:srgbClr val="8C1D22"/>
                </a:solidFill>
                <a:latin typeface="Arial"/>
                <a:ea typeface="Arial"/>
                <a:cs typeface="Arial"/>
              </a:rPr>
              <a:t>Interpretabilidad y límites</a:t>
            </a:r>
          </a:p>
        </p:txBody>
      </p:sp>
      <p:sp>
        <p:nvSpPr>
          <p:cNvPr id="2" name="">
            <a:extLst xmlns:a="http://schemas.openxmlformats.org/drawingml/2006/main">
              <a:ext uri="{FF2B5EF4-FFF2-40B4-BE49-F238E27FC236}">
                <a16:creationId xmlns:a16="http://schemas.microsoft.com/office/drawing/2014/main" id="{B44B9963-5A1F-4D91-AA12-D48B58C7201F}"/>
              </a:ext>
            </a:extLst>
          </p:cNvPr>
          <p:cNvSpPr>
            <a:spLocks xmlns:a="http://schemas.openxmlformats.org/drawingml/2006/main" noGrp="1"/>
          </p:cNvSpPr>
          <p:nvPr/>
        </p:nvSpPr>
        <p:spPr>
          <a:xfrm xmlns:a="http://schemas.openxmlformats.org/drawingml/2006/main">
            <a:off x="11049000" y="63912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262"/>
                </a:solidFill>
                <a:latin typeface="Arial"/>
                <a:ea typeface="Arial"/>
                <a:cs typeface="Arial"/>
              </a:defRPr>
            </a:pPr>
            <a:r>
              <a:rPr sz="1275" b="0">
                <a:solidFill>
                  <a:srgbClr val="626262"/>
                </a:solidFill>
                <a:latin typeface="Arial"/>
                <a:ea typeface="Arial"/>
                <a:cs typeface="Arial"/>
              </a:rPr>
              <a:t>7</a:t>
            </a:r>
          </a:p>
        </p:txBody>
      </p:sp>
      <p:graphicFrame>
        <p:nvGraphicFramePr>
          <p:cNvPr id="8" name="Chart"/>
          <p:cNvGraphicFramePr/>
          <p:nvPr/>
        </p:nvGraphicFramePr>
        <p:xfrm>
          <a:off xmlns:a="http://schemas.openxmlformats.org/drawingml/2006/main" x="857250" y="1714500"/>
          <a:ext xmlns:a="http://schemas.openxmlformats.org/drawingml/2006/main" cx="10096500" cy="3429000"/>
        </p:xfrm>
        <a:graphic xmlns:a="http://schemas.openxmlformats.org/drawingml/2006/main">
          <a:graphicData uri="http://schemas.openxmlformats.org/drawingml/2006/chart">
            <c:chart xmlns:r="http://schemas.openxmlformats.org/officeDocument/2006/relationships" xmlns:c="http://schemas.openxmlformats.org/drawingml/2006/chart" r:id="Rd375705a45d84a4f"/>
          </a:graphicData>
        </a:graphic>
      </p:graphicFrame>
      <p:sp>
        <p:nvSpPr>
          <p:cNvPr id="4" name="">
            <a:extLst xmlns:a="http://schemas.openxmlformats.org/drawingml/2006/main">
              <a:ext uri="{FF2B5EF4-FFF2-40B4-BE49-F238E27FC236}">
                <a16:creationId xmlns:a16="http://schemas.microsoft.com/office/drawing/2014/main" id="{7F16B6C5-F722-447C-B818-B1371F3EB87A}"/>
              </a:ext>
            </a:extLst>
          </p:cNvPr>
          <p:cNvSpPr>
            <a:spLocks xmlns:a="http://schemas.openxmlformats.org/drawingml/2006/main" noGrp="1"/>
          </p:cNvSpPr>
          <p:nvPr/>
        </p:nvSpPr>
        <p:spPr>
          <a:xfrm xmlns:a="http://schemas.openxmlformats.org/drawingml/2006/main">
            <a:off x="762000" y="5334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262"/>
                </a:solidFill>
                <a:latin typeface="Arial"/>
                <a:ea typeface="Arial"/>
                <a:cs typeface="Arial"/>
              </a:defRPr>
            </a:pPr>
            <a:r>
              <a:rPr sz="1800" b="0">
                <a:solidFill>
                  <a:srgbClr val="626262"/>
                </a:solidFill>
                <a:latin typeface="Arial"/>
                <a:ea typeface="Arial"/>
                <a:cs typeface="Arial"/>
              </a:rPr>
              <a:t>Aumento de RMSE al permutar · 1.200 filas · 3 repeticiones</a:t>
            </a:r>
          </a:p>
        </p:txBody>
      </p:sp>
      <p:sp>
        <p:nvSpPr>
          <p:cNvPr id="5" name="">
            <a:extLst xmlns:a="http://schemas.openxmlformats.org/drawingml/2006/main">
              <a:ext uri="{FF2B5EF4-FFF2-40B4-BE49-F238E27FC236}">
                <a16:creationId xmlns:a16="http://schemas.microsoft.com/office/drawing/2014/main" id="{043BDF59-A6A9-42C9-8816-0B0C92C80AF3}"/>
              </a:ext>
            </a:extLst>
          </p:cNvPr>
          <p:cNvSpPr>
            <a:spLocks xmlns:a="http://schemas.openxmlformats.org/drawingml/2006/main" noGrp="1"/>
          </p:cNvSpPr>
          <p:nvPr/>
        </p:nvSpPr>
        <p:spPr>
          <a:xfrm xmlns:a="http://schemas.openxmlformats.org/drawingml/2006/main">
            <a:off x="762000" y="5857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C1D22"/>
                </a:solidFill>
                <a:latin typeface="Arial"/>
                <a:ea typeface="Arial"/>
                <a:cs typeface="Arial"/>
              </a:defRPr>
            </a:pPr>
            <a:r>
              <a:rPr sz="2100" b="1">
                <a:solidFill>
                  <a:srgbClr val="8C1D22"/>
                </a:solidFill>
                <a:latin typeface="Arial"/>
                <a:ea typeface="Arial"/>
                <a:cs typeface="Arial"/>
              </a:rPr>
              <a:t>Importancia predictiva no equivale a efecto causal</a:t>
            </a:r>
          </a:p>
        </p:txBody>
      </p:sp>
    </p:spTree>
    <p:extLst>
      <p:ext uri="{BB962C8B-B14F-4D97-AF65-F5344CB8AC3E}">
        <p14:creationId xmlns:p14="http://schemas.microsoft.com/office/powerpoint/2010/main" val="15511264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12DAB0-3738-43BE-ADA8-959A230D626C}"/>
              </a:ext>
            </a:extLst>
          </p:cNvPr>
          <p:cNvSpPr>
            <a:spLocks xmlns:a="http://schemas.openxmlformats.org/drawingml/2006/main" noGrp="1"/>
          </p:cNvSpPr>
          <p:nvPr/>
        </p:nvSpPr>
        <p:spPr>
          <a:xfrm xmlns:a="http://schemas.openxmlformats.org/drawingml/2006/main">
            <a:off x="714375" y="495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8C1D22"/>
                </a:solidFill>
                <a:latin typeface="Arial"/>
                <a:ea typeface="Arial"/>
                <a:cs typeface="Arial"/>
              </a:defRPr>
            </a:pPr>
            <a:r>
              <a:rPr sz="3300" b="1">
                <a:solidFill>
                  <a:srgbClr val="8C1D22"/>
                </a:solidFill>
                <a:latin typeface="Arial"/>
                <a:ea typeface="Arial"/>
                <a:cs typeface="Arial"/>
              </a:rPr>
              <a:t>Productivización del modelo</a:t>
            </a:r>
          </a:p>
        </p:txBody>
      </p:sp>
      <p:sp>
        <p:nvSpPr>
          <p:cNvPr id="2" name="">
            <a:extLst xmlns:a="http://schemas.openxmlformats.org/drawingml/2006/main">
              <a:ext uri="{FF2B5EF4-FFF2-40B4-BE49-F238E27FC236}">
                <a16:creationId xmlns:a16="http://schemas.microsoft.com/office/drawing/2014/main" id="{20E86B15-635A-4A18-87DC-C7B290BEF2EE}"/>
              </a:ext>
            </a:extLst>
          </p:cNvPr>
          <p:cNvSpPr>
            <a:spLocks xmlns:a="http://schemas.openxmlformats.org/drawingml/2006/main" noGrp="1"/>
          </p:cNvSpPr>
          <p:nvPr/>
        </p:nvSpPr>
        <p:spPr>
          <a:xfrm xmlns:a="http://schemas.openxmlformats.org/drawingml/2006/main">
            <a:off x="11049000" y="63912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262"/>
                </a:solidFill>
                <a:latin typeface="Arial"/>
                <a:ea typeface="Arial"/>
                <a:cs typeface="Arial"/>
              </a:defRPr>
            </a:pPr>
            <a:r>
              <a:rPr sz="1275" b="0">
                <a:solidFill>
                  <a:srgbClr val="626262"/>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96CF1B5F-A412-4BBF-8DE7-CBAEF5257C3B}"/>
              </a:ext>
            </a:extLst>
          </p:cNvPr>
          <p:cNvSpPr>
            <a:spLocks xmlns:a="http://schemas.openxmlformats.org/drawingml/2006/main" noGrp="1"/>
          </p:cNvSpPr>
          <p:nvPr/>
        </p:nvSpPr>
        <p:spPr>
          <a:xfrm xmlns:a="http://schemas.openxmlformats.org/drawingml/2006/main">
            <a:off x="762000" y="1857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B2B2B"/>
                </a:solidFill>
                <a:latin typeface="Arial"/>
                <a:ea typeface="Arial"/>
                <a:cs typeface="Arial"/>
              </a:defRPr>
            </a:pPr>
            <a:r>
              <a:rPr sz="2625" b="1">
                <a:solidFill>
                  <a:srgbClr val="2B2B2B"/>
                </a:solidFill>
                <a:latin typeface="Arial"/>
                <a:ea typeface="Arial"/>
                <a:cs typeface="Arial"/>
              </a:rPr>
              <a:t>Entrada validada → pipeline → rating estimado</a:t>
            </a:r>
          </a:p>
        </p:txBody>
      </p:sp>
      <p:sp>
        <p:nvSpPr>
          <p:cNvPr id="4" name="">
            <a:extLst xmlns:a="http://schemas.openxmlformats.org/drawingml/2006/main">
              <a:ext uri="{FF2B5EF4-FFF2-40B4-BE49-F238E27FC236}">
                <a16:creationId xmlns:a16="http://schemas.microsoft.com/office/drawing/2014/main" id="{EFFA6056-841F-4447-B9A1-C098710DED4A}"/>
              </a:ext>
            </a:extLst>
          </p:cNvPr>
          <p:cNvSpPr>
            <a:spLocks xmlns:a="http://schemas.openxmlformats.org/drawingml/2006/main" noGrp="1"/>
          </p:cNvSpPr>
          <p:nvPr/>
        </p:nvSpPr>
        <p:spPr>
          <a:xfrm xmlns:a="http://schemas.openxmlformats.org/drawingml/2006/main">
            <a:off x="762000" y="2857500"/>
            <a:ext cx="10572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B2B2B"/>
                </a:solidFill>
                <a:latin typeface="Arial"/>
                <a:ea typeface="Arial"/>
                <a:cs typeface="Arial"/>
              </a:defRPr>
            </a:pPr>
            <a:r>
              <a:rPr sz="2325" b="0">
                <a:solidFill>
                  <a:srgbClr val="2B2B2B"/>
                </a:solidFill>
                <a:latin typeface="Arial"/>
                <a:ea typeface="Arial"/>
                <a:cs typeface="Arial"/>
              </a:rPr>
              <a:t>Interfaz web y API local</a:t>
            </a:r>
          </a:p>
          <a:p xmlns:a="http://schemas.openxmlformats.org/drawingml/2006/main">
            <a:pPr>
              <a:defRPr sz="2325" b="0">
                <a:solidFill>
                  <a:srgbClr val="2B2B2B"/>
                </a:solidFill>
                <a:latin typeface="Arial"/>
                <a:ea typeface="Arial"/>
                <a:cs typeface="Arial"/>
              </a:defRPr>
            </a:pPr>
            <a:r>
              <a:rPr sz="2325" b="0">
                <a:solidFill>
                  <a:srgbClr val="2B2B2B"/>
                </a:solidFill>
                <a:latin typeface="Arial"/>
                <a:ea typeface="Arial"/>
                <a:cs typeface="Arial"/>
              </a:rPr>
              <a:t>Versión y hash del modelo</a:t>
            </a:r>
          </a:p>
          <a:p xmlns:a="http://schemas.openxmlformats.org/drawingml/2006/main">
            <a:pPr>
              <a:defRPr sz="2325" b="0">
                <a:solidFill>
                  <a:srgbClr val="2B2B2B"/>
                </a:solidFill>
                <a:latin typeface="Arial"/>
                <a:ea typeface="Arial"/>
                <a:cs typeface="Arial"/>
              </a:defRPr>
            </a:pPr>
            <a:r>
              <a:rPr sz="2325" b="0">
                <a:solidFill>
                  <a:srgbClr val="2B2B2B"/>
                </a:solidFill>
                <a:latin typeface="Arial"/>
                <a:ea typeface="Arial"/>
                <a:cs typeface="Arial"/>
              </a:rPr>
              <a:t>Control de errores, latencia y campos ausentes</a:t>
            </a:r>
          </a:p>
        </p:txBody>
      </p:sp>
      <p:sp>
        <p:nvSpPr>
          <p:cNvPr id="5" name="">
            <a:extLst xmlns:a="http://schemas.openxmlformats.org/drawingml/2006/main">
              <a:ext uri="{FF2B5EF4-FFF2-40B4-BE49-F238E27FC236}">
                <a16:creationId xmlns:a16="http://schemas.microsoft.com/office/drawing/2014/main" id="{2EE67037-1815-4245-8C4E-43A38AC2C537}"/>
              </a:ext>
            </a:extLst>
          </p:cNvPr>
          <p:cNvSpPr>
            <a:spLocks xmlns:a="http://schemas.openxmlformats.org/drawingml/2006/main" noGrp="1"/>
          </p:cNvSpPr>
          <p:nvPr/>
        </p:nvSpPr>
        <p:spPr>
          <a:xfrm xmlns:a="http://schemas.openxmlformats.org/drawingml/2006/main">
            <a:off x="762000" y="5143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C1D22"/>
                </a:solidFill>
                <a:latin typeface="Arial"/>
                <a:ea typeface="Arial"/>
                <a:cs typeface="Arial"/>
              </a:defRPr>
            </a:pPr>
            <a:r>
              <a:rPr sz="2175" b="0">
                <a:solidFill>
                  <a:srgbClr val="8C1D22"/>
                </a:solidFill>
                <a:latin typeface="Arial"/>
                <a:ea typeface="Arial"/>
                <a:cs typeface="Arial"/>
              </a:rPr>
              <a:t>Prototipo funcional: sin publicación externa ni validación de impacto empresarial</a:t>
            </a:r>
          </a:p>
        </p:txBody>
      </p:sp>
    </p:spTree>
    <p:extLst>
      <p:ext uri="{BB962C8B-B14F-4D97-AF65-F5344CB8AC3E}">
        <p14:creationId xmlns:p14="http://schemas.microsoft.com/office/powerpoint/2010/main" val="5608329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086AB1-F46D-43B6-92B5-01FDA463329B}"/>
              </a:ext>
            </a:extLst>
          </p:cNvPr>
          <p:cNvSpPr>
            <a:spLocks xmlns:a="http://schemas.openxmlformats.org/drawingml/2006/main" noGrp="1"/>
          </p:cNvSpPr>
          <p:nvPr/>
        </p:nvSpPr>
        <p:spPr>
          <a:xfrm xmlns:a="http://schemas.openxmlformats.org/drawingml/2006/main">
            <a:off x="714375" y="495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8C1D22"/>
                </a:solidFill>
                <a:latin typeface="Arial"/>
                <a:ea typeface="Arial"/>
                <a:cs typeface="Arial"/>
              </a:defRPr>
            </a:pPr>
            <a:r>
              <a:rPr sz="3300" b="1">
                <a:solidFill>
                  <a:srgbClr val="8C1D22"/>
                </a:solidFill>
                <a:latin typeface="Arial"/>
                <a:ea typeface="Arial"/>
                <a:cs typeface="Arial"/>
              </a:rPr>
              <a:t>Madrid como aplicación complementaria</a:t>
            </a:r>
          </a:p>
        </p:txBody>
      </p:sp>
      <p:sp>
        <p:nvSpPr>
          <p:cNvPr id="2" name="">
            <a:extLst xmlns:a="http://schemas.openxmlformats.org/drawingml/2006/main">
              <a:ext uri="{FF2B5EF4-FFF2-40B4-BE49-F238E27FC236}">
                <a16:creationId xmlns:a16="http://schemas.microsoft.com/office/drawing/2014/main" id="{D7E06440-F4FB-4867-9D14-2E1EF9881B0C}"/>
              </a:ext>
            </a:extLst>
          </p:cNvPr>
          <p:cNvSpPr>
            <a:spLocks xmlns:a="http://schemas.openxmlformats.org/drawingml/2006/main" noGrp="1"/>
          </p:cNvSpPr>
          <p:nvPr/>
        </p:nvSpPr>
        <p:spPr>
          <a:xfrm xmlns:a="http://schemas.openxmlformats.org/drawingml/2006/main">
            <a:off x="11049000" y="63912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262"/>
                </a:solidFill>
                <a:latin typeface="Arial"/>
                <a:ea typeface="Arial"/>
                <a:cs typeface="Arial"/>
              </a:defRPr>
            </a:pPr>
            <a:r>
              <a:rPr sz="1275" b="0">
                <a:solidFill>
                  <a:srgbClr val="626262"/>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54CE0FF1-3BE0-492F-8422-28D249F0F633}"/>
              </a:ext>
            </a:extLst>
          </p:cNvPr>
          <p:cNvSpPr>
            <a:spLocks xmlns:a="http://schemas.openxmlformats.org/drawingml/2006/main" noGrp="1"/>
          </p:cNvSpPr>
          <p:nvPr/>
        </p:nvSpPr>
        <p:spPr>
          <a:xfrm xmlns:a="http://schemas.openxmlformats.org/drawingml/2006/main">
            <a:off x="762000" y="176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8C1D22"/>
                </a:solidFill>
                <a:latin typeface="Arial"/>
                <a:ea typeface="Arial"/>
                <a:cs typeface="Arial"/>
              </a:defRPr>
            </a:pPr>
            <a:r>
              <a:rPr sz="2550" b="1">
                <a:solidFill>
                  <a:srgbClr val="8C1D22"/>
                </a:solidFill>
                <a:latin typeface="Arial"/>
                <a:ea typeface="Arial"/>
                <a:cs typeface="Arial"/>
              </a:rPr>
              <a:t>Fuentes complementarias</a:t>
            </a:r>
          </a:p>
        </p:txBody>
      </p:sp>
      <p:sp>
        <p:nvSpPr>
          <p:cNvPr id="4" name="">
            <a:extLst xmlns:a="http://schemas.openxmlformats.org/drawingml/2006/main">
              <a:ext uri="{FF2B5EF4-FFF2-40B4-BE49-F238E27FC236}">
                <a16:creationId xmlns:a16="http://schemas.microsoft.com/office/drawing/2014/main" id="{549ED1F9-8C1A-45FD-A8B6-9CF2D7A6CF2F}"/>
              </a:ext>
            </a:extLst>
          </p:cNvPr>
          <p:cNvSpPr>
            <a:spLocks xmlns:a="http://schemas.openxmlformats.org/drawingml/2006/main" noGrp="1"/>
          </p:cNvSpPr>
          <p:nvPr/>
        </p:nvSpPr>
        <p:spPr>
          <a:xfrm xmlns:a="http://schemas.openxmlformats.org/drawingml/2006/main">
            <a:off x="762000" y="238125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B2B2B"/>
                </a:solidFill>
                <a:latin typeface="Arial"/>
                <a:ea typeface="Arial"/>
                <a:cs typeface="Arial"/>
              </a:defRPr>
            </a:pPr>
            <a:r>
              <a:rPr sz="2325" b="0">
                <a:solidFill>
                  <a:srgbClr val="2B2B2B"/>
                </a:solidFill>
                <a:latin typeface="Arial"/>
                <a:ea typeface="Arial"/>
                <a:cs typeface="Arial"/>
              </a:rPr>
              <a:t>Censo y padrón de 2026 · renta de 2023</a:t>
            </a:r>
          </a:p>
          <a:p xmlns:a="http://schemas.openxmlformats.org/drawingml/2006/main">
            <a:pPr>
              <a:defRPr sz="2325" b="0">
                <a:solidFill>
                  <a:srgbClr val="2B2B2B"/>
                </a:solidFill>
                <a:latin typeface="Arial"/>
                <a:ea typeface="Arial"/>
                <a:cs typeface="Arial"/>
              </a:defRPr>
            </a:pPr>
            <a:r>
              <a:rPr sz="2325" b="0">
                <a:solidFill>
                  <a:srgbClr val="2B2B2B"/>
                </a:solidFill>
                <a:latin typeface="Arial"/>
                <a:ea typeface="Arial"/>
                <a:cs typeface="Arial"/>
              </a:rPr>
              <a:t>Precios y condiciones de menús publicados</a:t>
            </a:r>
          </a:p>
        </p:txBody>
      </p:sp>
      <p:sp>
        <p:nvSpPr>
          <p:cNvPr id="5" name="">
            <a:extLst xmlns:a="http://schemas.openxmlformats.org/drawingml/2006/main">
              <a:ext uri="{FF2B5EF4-FFF2-40B4-BE49-F238E27FC236}">
                <a16:creationId xmlns:a16="http://schemas.microsoft.com/office/drawing/2014/main" id="{9A54C344-5D8A-4730-8DA4-546DBBC1B655}"/>
              </a:ext>
            </a:extLst>
          </p:cNvPr>
          <p:cNvSpPr>
            <a:spLocks xmlns:a="http://schemas.openxmlformats.org/drawingml/2006/main" noGrp="1"/>
          </p:cNvSpPr>
          <p:nvPr/>
        </p:nvSpPr>
        <p:spPr>
          <a:xfrm xmlns:a="http://schemas.openxmlformats.org/drawingml/2006/main">
            <a:off x="762000" y="39528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8C1D22"/>
                </a:solidFill>
                <a:latin typeface="Arial"/>
                <a:ea typeface="Arial"/>
                <a:cs typeface="Arial"/>
              </a:defRPr>
            </a:pPr>
            <a:r>
              <a:rPr sz="2550" b="1">
                <a:solidFill>
                  <a:srgbClr val="8C1D22"/>
                </a:solidFill>
                <a:latin typeface="Arial"/>
                <a:ea typeface="Arial"/>
                <a:cs typeface="Arial"/>
              </a:rPr>
              <a:t>Uso en la memoria</a:t>
            </a:r>
          </a:p>
        </p:txBody>
      </p:sp>
      <p:sp>
        <p:nvSpPr>
          <p:cNvPr id="6" name="">
            <a:extLst xmlns:a="http://schemas.openxmlformats.org/drawingml/2006/main">
              <a:ext uri="{FF2B5EF4-FFF2-40B4-BE49-F238E27FC236}">
                <a16:creationId xmlns:a16="http://schemas.microsoft.com/office/drawing/2014/main" id="{004B6A18-670D-4994-B382-267DEC6F4D0E}"/>
              </a:ext>
            </a:extLst>
          </p:cNvPr>
          <p:cNvSpPr>
            <a:spLocks xmlns:a="http://schemas.openxmlformats.org/drawingml/2006/main" noGrp="1"/>
          </p:cNvSpPr>
          <p:nvPr/>
        </p:nvSpPr>
        <p:spPr>
          <a:xfrm xmlns:a="http://schemas.openxmlformats.org/drawingml/2006/main">
            <a:off x="762000" y="45434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B2B2B"/>
                </a:solidFill>
                <a:latin typeface="Arial"/>
                <a:ea typeface="Arial"/>
                <a:cs typeface="Arial"/>
              </a:defRPr>
            </a:pPr>
            <a:r>
              <a:rPr sz="2325" b="0">
                <a:solidFill>
                  <a:srgbClr val="2B2B2B"/>
                </a:solidFill>
                <a:latin typeface="Arial"/>
                <a:ea typeface="Arial"/>
                <a:cs typeface="Arial"/>
              </a:rPr>
              <a:t>Contextualizar competencia y límites de decisión</a:t>
            </a:r>
          </a:p>
          <a:p xmlns:a="http://schemas.openxmlformats.org/drawingml/2006/main">
            <a:pPr>
              <a:defRPr sz="2325" b="0">
                <a:solidFill>
                  <a:srgbClr val="2B2B2B"/>
                </a:solidFill>
                <a:latin typeface="Arial"/>
                <a:ea typeface="Arial"/>
                <a:cs typeface="Arial"/>
              </a:defRPr>
            </a:pPr>
            <a:r>
              <a:rPr sz="2325" b="0">
                <a:solidFill>
                  <a:srgbClr val="2B2B2B"/>
                </a:solidFill>
                <a:latin typeface="Arial"/>
                <a:ea typeface="Arial"/>
                <a:cs typeface="Arial"/>
              </a:rPr>
              <a:t>La rentabilidad requiere demanda y costes observados</a:t>
            </a:r>
          </a:p>
        </p:txBody>
      </p:sp>
    </p:spTree>
    <p:extLst>
      <p:ext uri="{BB962C8B-B14F-4D97-AF65-F5344CB8AC3E}">
        <p14:creationId xmlns:p14="http://schemas.microsoft.com/office/powerpoint/2010/main" val="2054076173"/>
      </p:ext>
    </p:extLst>
  </p:cSld>
</p:sld>
</file>

<file path=ppt/slides/slide10.xml><?xml version="1.0" encoding="utf-8"?>
<p:sld xmlns:p="http://schemas.openxmlformats.org/presentationml/2006/main">
  <p:cSld>
    <p:bg>
      <p:bgPr>
        <a:solidFill xmlns:a="http://schemas.openxmlformats.org/drawingml/2006/main">
          <a:srgbClr val="8C1D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81ECE3-08D3-4A53-8295-4896856617B8}"/>
              </a:ext>
            </a:extLst>
          </p:cNvPr>
          <p:cNvSpPr>
            <a:spLocks xmlns:a="http://schemas.openxmlformats.org/drawingml/2006/main" noGrp="1"/>
          </p:cNvSpPr>
          <p:nvPr/>
        </p:nvSpPr>
        <p:spPr>
          <a:xfrm xmlns:a="http://schemas.openxmlformats.org/drawingml/2006/main">
            <a:off x="714375" y="495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Conclusiones y siguientes mejoras</a:t>
            </a:r>
          </a:p>
        </p:txBody>
      </p:sp>
      <p:sp>
        <p:nvSpPr>
          <p:cNvPr id="2" name="">
            <a:extLst xmlns:a="http://schemas.openxmlformats.org/drawingml/2006/main">
              <a:ext uri="{FF2B5EF4-FFF2-40B4-BE49-F238E27FC236}">
                <a16:creationId xmlns:a16="http://schemas.microsoft.com/office/drawing/2014/main" id="{87B66344-F713-458D-A274-38A8333A598F}"/>
              </a:ext>
            </a:extLst>
          </p:cNvPr>
          <p:cNvSpPr>
            <a:spLocks xmlns:a="http://schemas.openxmlformats.org/drawingml/2006/main" noGrp="1"/>
          </p:cNvSpPr>
          <p:nvPr/>
        </p:nvSpPr>
        <p:spPr>
          <a:xfrm xmlns:a="http://schemas.openxmlformats.org/drawingml/2006/main">
            <a:off x="11049000" y="63912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821C627F-A2F1-4372-A827-AD4E4D4AAF09}"/>
              </a:ext>
            </a:extLst>
          </p:cNvPr>
          <p:cNvSpPr>
            <a:spLocks xmlns:a="http://schemas.openxmlformats.org/drawingml/2006/main" noGrp="1"/>
          </p:cNvSpPr>
          <p:nvPr/>
        </p:nvSpPr>
        <p:spPr>
          <a:xfrm xmlns:a="http://schemas.openxmlformats.org/drawingml/2006/main">
            <a:off x="762000" y="19050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La mejora predictiva depende de la información disponible</a:t>
            </a:r>
          </a:p>
        </p:txBody>
      </p:sp>
      <p:sp>
        <p:nvSpPr>
          <p:cNvPr id="4" name="">
            <a:extLst xmlns:a="http://schemas.openxmlformats.org/drawingml/2006/main">
              <a:ext uri="{FF2B5EF4-FFF2-40B4-BE49-F238E27FC236}">
                <a16:creationId xmlns:a16="http://schemas.microsoft.com/office/drawing/2014/main" id="{D66DB324-4A04-46E9-A37E-18FF673C2C2B}"/>
              </a:ext>
            </a:extLst>
          </p:cNvPr>
          <p:cNvSpPr>
            <a:spLocks xmlns:a="http://schemas.openxmlformats.org/drawingml/2006/main" noGrp="1"/>
          </p:cNvSpPr>
          <p:nvPr/>
        </p:nvSpPr>
        <p:spPr>
          <a:xfrm xmlns:a="http://schemas.openxmlformats.org/drawingml/2006/main">
            <a:off x="762000" y="34290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4E9D8"/>
                </a:solidFill>
                <a:latin typeface="Arial"/>
                <a:ea typeface="Arial"/>
                <a:cs typeface="Arial"/>
              </a:defRPr>
            </a:pPr>
            <a:r>
              <a:rPr sz="2400" b="0">
                <a:solidFill>
                  <a:srgbClr val="F4E9D8"/>
                </a:solidFill>
                <a:latin typeface="Arial"/>
                <a:ea typeface="Arial"/>
                <a:cs typeface="Arial"/>
              </a:rPr>
              <a:t>Datos adecuados, interpretación y una aplicación reproducible</a:t>
            </a:r>
          </a:p>
        </p:txBody>
      </p:sp>
      <p:sp>
        <p:nvSpPr>
          <p:cNvPr id="5" name="">
            <a:extLst xmlns:a="http://schemas.openxmlformats.org/drawingml/2006/main">
              <a:ext uri="{FF2B5EF4-FFF2-40B4-BE49-F238E27FC236}">
                <a16:creationId xmlns:a16="http://schemas.microsoft.com/office/drawing/2014/main" id="{AFDD6FBB-30C1-4E97-8B60-BBACA2EA248C}"/>
              </a:ext>
            </a:extLst>
          </p:cNvPr>
          <p:cNvSpPr>
            <a:spLocks xmlns:a="http://schemas.openxmlformats.org/drawingml/2006/main" noGrp="1"/>
          </p:cNvSpPr>
          <p:nvPr/>
        </p:nvSpPr>
        <p:spPr>
          <a:xfrm xmlns:a="http://schemas.openxmlformats.org/drawingml/2006/main">
            <a:off x="762000" y="50482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Pendiente: validación externa y temporal; impacto en uso real</a:t>
            </a:r>
          </a:p>
        </p:txBody>
      </p:sp>
    </p:spTree>
    <p:extLst>
      <p:ext uri="{BB962C8B-B14F-4D97-AF65-F5344CB8AC3E}">
        <p14:creationId xmlns:p14="http://schemas.microsoft.com/office/powerpoint/2010/main" val="3320400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2026-09-13T09:44:23.6980000Z</dcterms:created>
  <dcterms:modified xsi:type="dcterms:W3CDTF">2026-09-13T09:44:23.6980000Z</dcterms:modified>
</coreProperties>
</file>