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B2B"/>
                </a:solidFill>
                <a:latin typeface="Calibri"/>
              </a:rPr>
              <a:t>Top 5 países por nº de restaurantes asiáticos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Restaurantes</c:v>
                </c:pt>
              </c:strCache>
            </c:strRef>
          </c:tx>
          <c:spPr>
            <a:solidFill>
              <a:srgbClr val="8C1D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Reino Unido</c:v>
                  </c:pt>
                  <c:pt idx="1">
                    <c:v>Francia</c:v>
                  </c:pt>
                  <c:pt idx="2">
                    <c:v>Alemania</c:v>
                  </c:pt>
                  <c:pt idx="3">
                    <c:v>España</c:v>
                  </c:pt>
                  <c:pt idx="4">
                    <c:v>Italia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24090</c:v>
                </c:pt>
                <c:pt idx="1">
                  <c:v>13300</c:v>
                </c:pt>
                <c:pt idx="2">
                  <c:v>9431</c:v>
                </c:pt>
                <c:pt idx="3">
                  <c:v>8295</c:v>
                </c:pt>
                <c:pt idx="4">
                  <c:v>7314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B2B"/>
                </a:solidFill>
                <a:latin typeface="Calibri"/>
              </a:rPr>
              <a:t>Tipos de cocina asiática más frecuentes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Restaurantes</c:v>
                </c:pt>
              </c:strCache>
            </c:strRef>
          </c:tx>
          <c:spPr>
            <a:solidFill>
              <a:srgbClr val="D4A5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Asian</c:v>
                  </c:pt>
                  <c:pt idx="1">
                    <c:v>Chinese</c:v>
                  </c:pt>
                  <c:pt idx="2">
                    <c:v>Indian</c:v>
                  </c:pt>
                  <c:pt idx="3">
                    <c:v>Japanese</c:v>
                  </c:pt>
                  <c:pt idx="4">
                    <c:v>Sushi</c:v>
                  </c:pt>
                  <c:pt idx="5">
                    <c:v>Thai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53658</c:v>
                </c:pt>
                <c:pt idx="1">
                  <c:v>29046</c:v>
                </c:pt>
                <c:pt idx="2">
                  <c:v>21119</c:v>
                </c:pt>
                <c:pt idx="3">
                  <c:v>20645</c:v>
                </c:pt>
                <c:pt idx="4">
                  <c:v>17777</c:v>
                </c:pt>
                <c:pt idx="5">
                  <c:v>11004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B2B"/>
                </a:solidFill>
                <a:latin typeface="Calibri"/>
              </a:rPr>
              <a:t>RMSE por modelo (menor = mejor)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8C1D2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Regresión
Lineal</c:v>
                  </c:pt>
                  <c:pt idx="1">
                    <c:v>Random
Forest</c:v>
                  </c:pt>
                  <c:pt idx="2">
                    <c:v>XGBoost</c:v>
                  </c:pt>
                  <c:pt idx="3">
                    <c:v>SVR</c:v>
                  </c:pt>
                  <c:pt idx="4">
                    <c:v>Red densa
(Keras)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0.548</c:v>
                </c:pt>
                <c:pt idx="1">
                  <c:v>0.557</c:v>
                </c:pt>
                <c:pt idx="2">
                  <c:v>0.548</c:v>
                </c:pt>
                <c:pt idx="3">
                  <c:v>0.56</c:v>
                </c:pt>
                <c:pt idx="4">
                  <c:v>0.54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predicho</c:v>
                </c:pt>
              </c:strCache>
            </c:strRef>
          </c:tx>
          <c:spPr>
            <a:solidFill>
              <a:srgbClr val="8C1D2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Ejecución
mediocre</c:v>
                  </c:pt>
                  <c:pt idx="1">
                    <c:v>Ejecución
media</c:v>
                  </c:pt>
                  <c:pt idx="2">
                    <c:v>Ejecución
alta</c:v>
                  </c:pt>
                  <c:pt idx="3">
                    <c:v>Ejecución
excelente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</c:v>
                </c:pt>
                <c:pt idx="1">
                  <c:v>3.47</c:v>
                </c:pt>
                <c:pt idx="2">
                  <c:v>4.23</c:v>
                </c:pt>
                <c:pt idx="3">
                  <c:v>4.33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572000" cy="4572000"/>
          </a:xfrm>
          <a:prstGeom prst="ellipse">
            <a:avLst/>
          </a:prstGeom>
          <a:solidFill>
            <a:srgbClr val="5E121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657600" cy="3657600"/>
          </a:xfrm>
          <a:prstGeom prst="ellipse">
            <a:avLst/>
          </a:prstGeom>
          <a:solidFill>
            <a:srgbClr val="5E121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960120" cy="96012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5" name="Image 0" descr="/private/tmp/claude-501/-Users-joaquin-Desktop-spark-tarea/e49bed30-2ab3-43bd-af7e-7598375816d8/scratchpad/pptx_video/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93543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MÁSTER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Gastronomía Asiática en Europa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predictivo de la valoración de restaurantes, con foco en España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394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Chen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Big Data, Data Science e Inteligencia Artificial — UCM Online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Tutores: Carlos Ortega y Santiago Mota   ·   Septiembre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que un restaurante asiático triunfe en TripAdvisor?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ECECE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1.083.397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europeos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 (Kaggle)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210312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ECECEC"/>
          </a:solidFill>
          <a:ln/>
        </p:spPr>
      </p:sp>
      <p:sp>
        <p:nvSpPr>
          <p:cNvPr id="10" name="Text 7"/>
          <p:cNvSpPr/>
          <p:nvPr/>
        </p:nvSpPr>
        <p:spPr>
          <a:xfrm>
            <a:off x="448056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86.306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48056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asiáticos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filtro (7,97%)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0" y="210312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ECECEC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18388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europeos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representados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16" name="Image 1" descr="/private/tmp/claude-501/-Users-joaquin-Desktop-spark-tarea/e49bed30-2ab3-43bd-af7e-7598375816d8/scratchpad/pptx_video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461131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8872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48640" y="5074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geográfica y tipos de cocina asiática en Europa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251960" y="4480560"/>
            <a:ext cx="502920" cy="50292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20" name="Image 2" descr="/private/tmp/claude-501/-Users-joaquin-Desktop-spark-tarea/e49bed30-2ab3-43bd-af7e-7598375816d8/scratchpad/pptx_video/icons/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719" y="461131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9204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251960" y="5074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estime la valoración media de un restaurante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955280" y="4480560"/>
            <a:ext cx="502920" cy="50292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24" name="Image 3" descr="/private/tmp/claude-501/-Users-joaquin-Desktop-spark-tarea/e49bed30-2ab3-43bd-af7e-7598375816d8/scratchpad/pptx_video/icons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039" y="46113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9536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955280" y="5074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variables influyen más, con SHAP, e implementarlo como función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está la oferta asiática?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498080" y="1463040"/>
            <a:ext cx="4114800" cy="219456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/>
        </p:spPr>
      </p:sp>
      <p:sp>
        <p:nvSpPr>
          <p:cNvPr id="7" name="Text 3"/>
          <p:cNvSpPr/>
          <p:nvPr/>
        </p:nvSpPr>
        <p:spPr>
          <a:xfrm>
            <a:off x="772668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C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8.295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772668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asiáticos en España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26680" y="2788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concentra 1.000 — muy por delante de Palma de Mallorca (218) y Las Palmas (108)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498080" y="39319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Reino Unido, Francia y Alemania concentran la mayor oferta; España se sitúa en el top 5 europeo.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cocinas, y qué dicen las reseñas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498080" y="1463040"/>
            <a:ext cx="4114800" cy="2377440"/>
          </a:xfrm>
          <a:prstGeom prst="roundRect">
            <a:avLst>
              <a:gd name="adj" fmla="val 4615"/>
            </a:avLst>
          </a:prstGeom>
          <a:solidFill>
            <a:srgbClr val="8C1D22"/>
          </a:solidFill>
          <a:ln/>
        </p:spPr>
      </p:sp>
      <p:sp>
        <p:nvSpPr>
          <p:cNvPr id="7" name="Text 3"/>
          <p:cNvSpPr/>
          <p:nvPr/>
        </p:nvSpPr>
        <p:spPr>
          <a:xfrm>
            <a:off x="772668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0,077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72668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entre nº de reseñas y valoración media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2668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Prácticamente nula: tener muchas reseñas no significa tener mejor nota, solo más visibilidad.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498080" y="42062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cocina china y la etiqueta genérica "Asian" dominan la oferta, con variaciones claras por país.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modelos, tres asignaturas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577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 de Datos     ·     Machine Learning     ·     Deep Learning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498080" y="146304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8C1D22"/>
          </a:solidFill>
          <a:ln/>
        </p:spPr>
      </p:sp>
      <p:sp>
        <p:nvSpPr>
          <p:cNvPr id="8" name="Text 4"/>
          <p:cNvSpPr/>
          <p:nvPr/>
        </p:nvSpPr>
        <p:spPr>
          <a:xfrm>
            <a:off x="77266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afinado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2668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 elegido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2668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0,536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9189720" y="2624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2668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0,36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9189720" y="3310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2668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9189720" y="3995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26680" y="4617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 con RandomizedSearchCV + validación cruzada de 5 folds. Rendimiento casi idéntico a la red neuronal, con interpretabilidad nativa.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predice lo que predice?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 con SHAP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la comida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017520" y="1930847"/>
            <a:ext cx="4114800" cy="362834"/>
          </a:xfrm>
          <a:prstGeom prst="roundRect">
            <a:avLst>
              <a:gd name="adj" fmla="val 15121"/>
            </a:avLst>
          </a:prstGeom>
          <a:solidFill>
            <a:srgbClr val="ECECEC"/>
          </a:solidFill>
          <a:ln/>
        </p:spPr>
      </p:sp>
      <p:sp>
        <p:nvSpPr>
          <p:cNvPr id="8" name="Shape 5"/>
          <p:cNvSpPr/>
          <p:nvPr/>
        </p:nvSpPr>
        <p:spPr>
          <a:xfrm>
            <a:off x="3017520" y="1930847"/>
            <a:ext cx="4114800" cy="362834"/>
          </a:xfrm>
          <a:prstGeom prst="roundRect">
            <a:avLst>
              <a:gd name="adj" fmla="val 15121"/>
            </a:avLst>
          </a:prstGeom>
          <a:solidFill>
            <a:srgbClr val="8C1D2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5968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17520" y="2698943"/>
            <a:ext cx="4114800" cy="362834"/>
          </a:xfrm>
          <a:prstGeom prst="roundRect">
            <a:avLst>
              <a:gd name="adj" fmla="val 15121"/>
            </a:avLst>
          </a:prstGeom>
          <a:solidFill>
            <a:srgbClr val="ECECEC"/>
          </a:solidFill>
          <a:ln/>
        </p:spPr>
      </p:sp>
      <p:sp>
        <p:nvSpPr>
          <p:cNvPr id="11" name="Shape 8"/>
          <p:cNvSpPr/>
          <p:nvPr/>
        </p:nvSpPr>
        <p:spPr>
          <a:xfrm>
            <a:off x="3017520" y="2698943"/>
            <a:ext cx="3374136" cy="362834"/>
          </a:xfrm>
          <a:prstGeom prst="roundRect">
            <a:avLst>
              <a:gd name="adj" fmla="val 15121"/>
            </a:avLst>
          </a:prstGeom>
          <a:solidFill>
            <a:srgbClr val="D4A537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364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calidad-precio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17520" y="3467039"/>
            <a:ext cx="4114800" cy="362834"/>
          </a:xfrm>
          <a:prstGeom prst="roundRect">
            <a:avLst>
              <a:gd name="adj" fmla="val 15121"/>
            </a:avLst>
          </a:prstGeom>
          <a:solidFill>
            <a:srgbClr val="ECECEC"/>
          </a:solidFill>
          <a:ln/>
        </p:spPr>
      </p:sp>
      <p:sp>
        <p:nvSpPr>
          <p:cNvPr id="14" name="Shape 11"/>
          <p:cNvSpPr/>
          <p:nvPr/>
        </p:nvSpPr>
        <p:spPr>
          <a:xfrm>
            <a:off x="3017520" y="3467039"/>
            <a:ext cx="2798064" cy="362834"/>
          </a:xfrm>
          <a:prstGeom prst="roundRect">
            <a:avLst>
              <a:gd name="adj" fmla="val 15121"/>
            </a:avLst>
          </a:prstGeom>
          <a:solidFill>
            <a:srgbClr val="D4A537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1330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17520" y="4235135"/>
            <a:ext cx="4114800" cy="362834"/>
          </a:xfrm>
          <a:prstGeom prst="roundRect">
            <a:avLst>
              <a:gd name="adj" fmla="val 15121"/>
            </a:avLst>
          </a:prstGeom>
          <a:solidFill>
            <a:srgbClr val="ECECEC"/>
          </a:solidFill>
          <a:ln/>
        </p:spPr>
      </p:sp>
      <p:sp>
        <p:nvSpPr>
          <p:cNvPr id="17" name="Shape 14"/>
          <p:cNvSpPr/>
          <p:nvPr/>
        </p:nvSpPr>
        <p:spPr>
          <a:xfrm>
            <a:off x="3017520" y="4235135"/>
            <a:ext cx="1851660" cy="362834"/>
          </a:xfrm>
          <a:prstGeom prst="roundRect">
            <a:avLst>
              <a:gd name="adj" fmla="val 15121"/>
            </a:avLst>
          </a:prstGeom>
          <a:solidFill>
            <a:srgbClr val="D4A537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9011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reseñas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017520" y="5003231"/>
            <a:ext cx="4114800" cy="362834"/>
          </a:xfrm>
          <a:prstGeom prst="roundRect">
            <a:avLst>
              <a:gd name="adj" fmla="val 15121"/>
            </a:avLst>
          </a:prstGeom>
          <a:solidFill>
            <a:srgbClr val="ECECEC"/>
          </a:solidFill>
          <a:ln/>
        </p:spPr>
      </p:sp>
      <p:sp>
        <p:nvSpPr>
          <p:cNvPr id="20" name="Shape 17"/>
          <p:cNvSpPr/>
          <p:nvPr/>
        </p:nvSpPr>
        <p:spPr>
          <a:xfrm>
            <a:off x="3017520" y="5003231"/>
            <a:ext cx="1152144" cy="362834"/>
          </a:xfrm>
          <a:prstGeom prst="roundRect">
            <a:avLst>
              <a:gd name="adj" fmla="val 15121"/>
            </a:avLst>
          </a:prstGeom>
          <a:solidFill>
            <a:srgbClr val="D4A537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82880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8C1D22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0" y="21488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"La comida y el servicio pesan más que la ubicación o el tipo de cocina."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72400" y="4114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país y el tipo de cocina matizan la predicción, pero con un peso claramente menor — coherente con la intuición de negocio.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modelo a herramienta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predict_rating(): una función lista para usar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predict_rating(</a:t>
            </a:r>
            <a:pPr indent="0" marL="0">
              <a:buNone/>
            </a:pPr>
            <a:r>
              <a:rPr lang="en-US" sz="14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cuisines=['Japanese','Sushi'], country='Spain', price_level='€€€€',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food=4.5, service=4.5, value=4.0, atmosphere=4.5)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8C1D22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7033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5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4,32 / 5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68680" y="44805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Japonés premium, buenas sub-puntuaciones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5440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342900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2B2B2B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37033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5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2,83 / 5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583680" y="44805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 económico, pocas reseñas, sub-puntuaciones mediocres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0" y="5440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REINO UNIDO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5E121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77440"/>
            <a:ext cx="1005840" cy="100584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4" name="Image 0" descr="/private/tmp/claude-501/-Users-joaquin-Desktop-spark-tarea/e49bed30-2ab3-43bd-af7e-7598375816d8/scratchpad/pptx_video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63895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NEGOCIO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3977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¿Invertir en un buffet libre de sushi en España?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y el modelo a una decisión concreta de inversión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tamaño del mercado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asiáticos en España (dataset TripAdvisor)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ECECE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148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8.295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asiáticos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ECECEC"/>
          </a:solidFill>
          <a:ln/>
        </p:spPr>
      </p:sp>
      <p:sp>
        <p:nvSpPr>
          <p:cNvPr id="10" name="Text 7"/>
          <p:cNvSpPr/>
          <p:nvPr/>
        </p:nvSpPr>
        <p:spPr>
          <a:xfrm>
            <a:off x="4480560" y="2148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2.524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480560" y="2971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ellos, con sushi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carta (30%)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0" y="1920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8C1D22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2148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329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183880" y="2971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de sushi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Madrid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es, con diferencia, el mercado más grande de España para cocina asiática y para sushi en particular — el punto de partida obligado para evaluar cualquier apertura.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competencia directa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Buffets libres de sushi ya operando en España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8C1D2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buffets de sushi en toda España — de 2.524 restaurantes con sushi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1480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23360" y="1965960"/>
            <a:ext cx="6949440" cy="36576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 de Mallorca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50976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Ninki Sushi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Fuenlabrada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5097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023360" y="2697480"/>
            <a:ext cx="6949440" cy="36576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Jamada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323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50976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11480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 V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3232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Arrecife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023360" y="3429000"/>
            <a:ext cx="6949440" cy="36576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7" name="Text 24"/>
          <p:cNvSpPr/>
          <p:nvPr/>
        </p:nvSpPr>
        <p:spPr>
          <a:xfrm>
            <a:off x="411480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Kioto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13232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50976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11480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Tei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32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50976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023360" y="4160520"/>
            <a:ext cx="6949440" cy="36576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4" name="Text 31"/>
          <p:cNvSpPr/>
          <p:nvPr/>
        </p:nvSpPr>
        <p:spPr>
          <a:xfrm>
            <a:off x="411480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Shi Rou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13232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50976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11480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Asador Wok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132320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509760" y="4526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352044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ECECEC"/>
          </a:solidFill>
          <a:ln/>
        </p:spPr>
      </p:sp>
      <p:sp>
        <p:nvSpPr>
          <p:cNvPr id="41" name="Text 38"/>
          <p:cNvSpPr/>
          <p:nvPr/>
        </p:nvSpPr>
        <p:spPr>
          <a:xfrm>
            <a:off x="777240" y="3657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3,56</a:t>
            </a:r>
            <a:endParaRPr lang="en-US" sz="3000" dirty="0"/>
          </a:p>
        </p:txBody>
      </p:sp>
      <p:sp>
        <p:nvSpPr>
          <p:cNvPr id="42" name="Text 39"/>
          <p:cNvSpPr/>
          <p:nvPr/>
        </p:nvSpPr>
        <p:spPr>
          <a:xfrm>
            <a:off x="777240" y="4251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medio de los buffets, frente a 3,92 del sushi à la carte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C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5E121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4" name="Image 0" descr="/private/tmp/claude-501/-Users-joaquin-Desktop-spark-tarea/e49bed30-2ab3-43bd-af7e-7598375816d8/scratchpad/pptx_video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hueco de mercado en Madrid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5E1216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329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de sushi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Madrid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D4A537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E1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53796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ellos es buffet libre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(Asia Tei, rating 3,5)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46634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 de sushi más grande de España está prácticamente sin explorar en formato buffet libre — y el único que existe hoy no destaca en calidad.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rating conseguiría un nuevo buffet?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C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con predict_rating() según la calidad de ejecución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7589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412480" y="160020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ECECEC"/>
          </a:solidFill>
          <a:ln/>
        </p:spPr>
      </p:sp>
      <p:sp>
        <p:nvSpPr>
          <p:cNvPr id="8" name="Text 4"/>
          <p:cNvSpPr/>
          <p:nvPr/>
        </p:nvSpPr>
        <p:spPr>
          <a:xfrm>
            <a:off x="864108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3,56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641080" y="2331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actual de los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buffets de sushi en España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41080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"mediocre" o "media" no basta para alcanzar ni ese nivel.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412480" y="3749040"/>
            <a:ext cx="3200400" cy="2240280"/>
          </a:xfrm>
          <a:prstGeom prst="roundRect">
            <a:avLst>
              <a:gd name="adj" fmla="val 4898"/>
            </a:avLst>
          </a:prstGeom>
          <a:solidFill>
            <a:srgbClr val="8C1D22"/>
          </a:solidFill>
          <a:ln/>
        </p:spPr>
      </p:sp>
      <p:sp>
        <p:nvSpPr>
          <p:cNvPr id="12" name="Text 8"/>
          <p:cNvSpPr/>
          <p:nvPr/>
        </p:nvSpPr>
        <p:spPr>
          <a:xfrm>
            <a:off x="8641080" y="393192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ejecución alta o excelente en comida y servicio se supera claramente el estándar actual del mercado.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5E121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4" name="Image 0" descr="/private/tmp/claude-501/-Users-joaquin-Desktop-spark-tarea/e49bed30-2ab3-43bd-af7e-7598375816d8/scratchpad/pptx_video/icons/ga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7" name="Image 1" descr="/private/tmp/claude-501/-Users-joaquin-Desktop-spark-tarea/e49bed30-2ab3-43bd-af7e-7598375816d8/scratchpad/pptx_video/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17666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5819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hay hueco de mercado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417320" y="205740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Madrid, el mayor mercado de sushi de España (329 restaurantes), tiene un solo buffet libre — y no destaca en calidad.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11" name="Image 2" descr="/private/tmp/claude-501/-Users-joaquin-Desktop-spark-tarea/e49bed30-2ab3-43bd-af7e-7598375816d8/scratchpad/pptx_video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22966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0449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el formato no basta por sí solo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417320" y="35204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buffets actuales rinden peor que el sushi à la carte (3,56 vs 3,92). El "todo incluido" barato no es garantía de éxito.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15" name="Image 3" descr="/private/tmp/claude-501/-Users-joaquin-Desktop-spark-tarea/e49bed30-2ab3-43bd-af7e-7598375816d8/scratchpad/pptx_video/icons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4692701"/>
            <a:ext cx="307238" cy="3072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5079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debe ir a comida y servicio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417320" y="49834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confirma que solo una ejecución alta o excelente supera el techo actual — coherente con lo que muestra SHAP en todo el dataset.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C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846320"/>
            <a:ext cx="3657600" cy="3657600"/>
          </a:xfrm>
          <a:prstGeom prst="ellipse">
            <a:avLst/>
          </a:prstGeom>
          <a:solidFill>
            <a:srgbClr val="5E12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lecciones aprendidas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5" name="Image 0" descr="/private/tmp/claude-501/-Users-joaquin-Desktop-spark-tarea/e49bed30-2ab3-43bd-af7e-7598375816d8/scratchpad/pptx_video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36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principal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92024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éxito de un restaurante asiático — y de un buffet de sushi en particular — depende de la ejecución: comida, servicio, precio. No del formato ni de dónde esté ubicado.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27248"/>
            <a:ext cx="640080" cy="64008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9" name="Image 1" descr="/private/tmp/claude-501/-Users-joaquin-Desktop-spark-tarea/e49bed30-2ab3-43bd-af7e-7598375816d8/scratchpad/pptx_video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3293669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aprendida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493008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que parecía útil (ranking de popularidad) resultó ser casi un identificador único y rompía el modelo lineal: siempre hay que auditar los datos a fondo antes de confiar en ellos.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700016"/>
            <a:ext cx="640080" cy="64008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13" name="Image 2" descr="/private/tmp/claude-501/-Users-joaquin-Desktop-spark-tarea/e49bed30-2ab3-43bd-af7e-7598375816d8/scratchpad/pptx_video/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866437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6817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futura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5065776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fuentes de datos más recientes (2026) y análisis de sentimiento sobre el texto libre de las reseñas.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Gastronomía Asiática en Europa · TFM UCM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554480"/>
            <a:ext cx="1280160" cy="1280160"/>
          </a:xfrm>
          <a:prstGeom prst="ellipse">
            <a:avLst/>
          </a:prstGeom>
          <a:solidFill>
            <a:srgbClr val="D4A537"/>
          </a:solidFill>
          <a:ln/>
        </p:spPr>
      </p:sp>
      <p:pic>
        <p:nvPicPr>
          <p:cNvPr id="3" name="Image 0" descr="/private/tmp/claude-501/-Users-joaquin-Desktop-spark-tarea/e49bed30-2ab3-43bd-af7e-7598375816d8/scratchpad/pptx_video/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9202" y="1887322"/>
            <a:ext cx="614477" cy="6144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01752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886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4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memoria y modelo disponibles en el repositorio del proyecto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394960" y="4663440"/>
            <a:ext cx="457200" cy="457200"/>
          </a:xfrm>
          <a:prstGeom prst="ellipse">
            <a:avLst/>
          </a:prstGeom>
          <a:solidFill>
            <a:srgbClr val="8C1D22"/>
          </a:solidFill>
          <a:ln/>
        </p:spPr>
      </p:sp>
      <p:pic>
        <p:nvPicPr>
          <p:cNvPr id="7" name="Image 1" descr="/private/tmp/claude-501/-Users-joaquin-Desktop-spark-tarea/e49bed30-2ab3-43bd-af7e-7598375816d8/scratchpad/pptx_video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47823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github.com/DoMoBird/TFM_Gastronomia_Asiatica_Europa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0" y="63093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Chen  ·  Máster en Big Data, Data Science e Inteligencia Artificial — UCM Online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2026-08-09T12:41:05Z</dcterms:created>
  <dcterms:modified xsi:type="dcterms:W3CDTF">2026-08-09T12:41:05Z</dcterms:modified>
</cp:coreProperties>
</file>