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5387a844db4d64" /><Relationship Type="http://schemas.openxmlformats.org/officeDocument/2006/relationships/extended-properties" Target="/docProps/app.xml" Id="R0acab4d56b1a4aa5" /><Relationship Type="http://schemas.openxmlformats.org/officeDocument/2006/relationships/officeDocument" Target="/ppt/presentation.xml" Id="Rdce61ed2736046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228b8e52144749"/>
  </p:sldMasterIdLst>
  <p:notesMasterIdLst>
    <p:notesMasterId xmlns:r="http://schemas.openxmlformats.org/officeDocument/2006/relationships" r:id="Ref6b594854dd40dd"/>
  </p:notesMasterIdLst>
  <p:sldIdLst>
    <p:sldId xmlns:r="http://schemas.openxmlformats.org/officeDocument/2006/relationships" id="256" r:id="R0b4d9a2e98f24d28"/>
    <p:sldId xmlns:r="http://schemas.openxmlformats.org/officeDocument/2006/relationships" id="257" r:id="R20e3743aaf85449d"/>
    <p:sldId xmlns:r="http://schemas.openxmlformats.org/officeDocument/2006/relationships" id="258" r:id="R8339717b367d4785"/>
    <p:sldId xmlns:r="http://schemas.openxmlformats.org/officeDocument/2006/relationships" id="259" r:id="R970c5aa58209409e"/>
    <p:sldId xmlns:r="http://schemas.openxmlformats.org/officeDocument/2006/relationships" id="260" r:id="R4874fde0e42e46f0"/>
    <p:sldId xmlns:r="http://schemas.openxmlformats.org/officeDocument/2006/relationships" id="261" r:id="R464a4db48c584115"/>
    <p:sldId xmlns:r="http://schemas.openxmlformats.org/officeDocument/2006/relationships" id="262" r:id="Rc414d5b0230f4b23"/>
    <p:sldId xmlns:r="http://schemas.openxmlformats.org/officeDocument/2006/relationships" id="263" r:id="R8a357d33f88f4e9d"/>
    <p:sldId xmlns:r="http://schemas.openxmlformats.org/officeDocument/2006/relationships" id="264" r:id="R12f7e50110984481"/>
    <p:sldId xmlns:r="http://schemas.openxmlformats.org/officeDocument/2006/relationships" id="265" r:id="Rcb881a7b9f3144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03e7b29e5e4274" /><Relationship Type="http://schemas.openxmlformats.org/officeDocument/2006/relationships/slideMaster" Target="/ppt/slideMasters/slideMaster1.xml" Id="Rbb228b8e52144749" /><Relationship Type="http://schemas.openxmlformats.org/officeDocument/2006/relationships/notesMaster" Target="/ppt/notesMasters/notesMaster1.xml" Id="Ref6b594854dd40dd" /><Relationship Type="http://schemas.openxmlformats.org/officeDocument/2006/relationships/presProps" Target="/ppt/presProps.xml" Id="Rcde46648def84bc4" /><Relationship Type="http://schemas.openxmlformats.org/officeDocument/2006/relationships/tableStyles" Target="/ppt/tableStyles.xml" Id="Rdfbb7076f3b947e4" /><Relationship Type="http://schemas.openxmlformats.org/officeDocument/2006/relationships/slide" Target="/ppt/slides/slide1.xml" Id="R0b4d9a2e98f24d28" /><Relationship Type="http://schemas.openxmlformats.org/officeDocument/2006/relationships/slide" Target="/ppt/slides/slide2.xml" Id="R20e3743aaf85449d" /><Relationship Type="http://schemas.openxmlformats.org/officeDocument/2006/relationships/slide" Target="/ppt/slides/slide3.xml" Id="R8339717b367d4785" /><Relationship Type="http://schemas.openxmlformats.org/officeDocument/2006/relationships/slide" Target="/ppt/slides/slide4.xml" Id="R970c5aa58209409e" /><Relationship Type="http://schemas.openxmlformats.org/officeDocument/2006/relationships/slide" Target="/ppt/slides/slide5.xml" Id="R4874fde0e42e46f0" /><Relationship Type="http://schemas.openxmlformats.org/officeDocument/2006/relationships/slide" Target="/ppt/slides/slide6.xml" Id="R464a4db48c584115" /><Relationship Type="http://schemas.openxmlformats.org/officeDocument/2006/relationships/slide" Target="/ppt/slides/slide7.xml" Id="Rc414d5b0230f4b23" /><Relationship Type="http://schemas.openxmlformats.org/officeDocument/2006/relationships/slide" Target="/ppt/slides/slide8.xml" Id="R8a357d33f88f4e9d" /><Relationship Type="http://schemas.openxmlformats.org/officeDocument/2006/relationships/slide" Target="/ppt/slides/slide9.xml" Id="R12f7e50110984481" /><Relationship Type="http://schemas.openxmlformats.org/officeDocument/2006/relationships/slide" Target="/ppt/slides/slide10.xml" Id="Rcb881a7b9f3144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083d97ff414a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d30adedfad459e" /><Relationship Type="http://schemas.openxmlformats.org/officeDocument/2006/relationships/notesMaster" Target="/ppt/notesMasters/notesMaster1.xml" Id="Re21ae9de08fa4f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4c74ccc32143f4" /><Relationship Type="http://schemas.openxmlformats.org/officeDocument/2006/relationships/notesMaster" Target="/ppt/notesMasters/notesMaster1.xml" Id="R082282be055a42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31b8eae2b0402c" /><Relationship Type="http://schemas.openxmlformats.org/officeDocument/2006/relationships/notesMaster" Target="/ppt/notesMasters/notesMaster1.xml" Id="R53cfa0a33f6843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887066911449d4" /><Relationship Type="http://schemas.openxmlformats.org/officeDocument/2006/relationships/notesMaster" Target="/ppt/notesMasters/notesMaster1.xml" Id="R9e5dc2b51df844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a569d4411248b7" /><Relationship Type="http://schemas.openxmlformats.org/officeDocument/2006/relationships/notesMaster" Target="/ppt/notesMasters/notesMaster1.xml" Id="R7cee4894e14d49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eb47a15f3d4a15" /><Relationship Type="http://schemas.openxmlformats.org/officeDocument/2006/relationships/notesMaster" Target="/ppt/notesMasters/notesMaster1.xml" Id="R7d1c28383a6e44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bc9bdb3df245aa" /><Relationship Type="http://schemas.openxmlformats.org/officeDocument/2006/relationships/notesMaster" Target="/ppt/notesMasters/notesMaster1.xml" Id="R64cfc296160a43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9fb4a9922d43b0" /><Relationship Type="http://schemas.openxmlformats.org/officeDocument/2006/relationships/notesMaster" Target="/ppt/notesMasters/notesMaster1.xml" Id="Raebbb43679494e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bd95f9393c465f" /><Relationship Type="http://schemas.openxmlformats.org/officeDocument/2006/relationships/notesMaster" Target="/ppt/notesMasters/notesMaster1.xml" Id="Rbc22916294e849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012098f2a64145" /><Relationship Type="http://schemas.openxmlformats.org/officeDocument/2006/relationships/notesMaster" Target="/ppt/notesMasters/notesMaster1.xml" Id="R586ae57ca1694c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Memoria revisada y resultados/evaluacion.json, eda_paises.json, kaggle_metadata.json.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Memoria revisada y resultados/evaluacion.json, eda_paises.json, kaggle_metadata.json.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Memoria revisada y resultados/evaluacion.json, eda_paises.json, kaggle_metadata.json.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Memoria revisada y resultados/evaluacion.json, eda_paises.json, kaggle_metadata.json.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Memoria revisada y resultados/evaluacion.json, eda_paises.json, kaggle_metadata.json.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Memoria revisada y resultados/evaluacion.json, eda_paises.json, kaggle_metadata.json.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Memoria revisada y resultados/evaluacion.json, eda_paises.json, kaggle_metadata.json.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Aplicación local src/servir.py e interfaz.html. Captura propia del 16/09/2026. Ejemplo histórico de resultados/ejemplo_entrada.json, salida 3.72/5.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investigacion_madrid/FASE2_RESULTADOS.md a FASE5_RESULTADOS.md. Datos municipales 2026 e INE ADRH 2023.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Memoria revisada y resultados/evaluacion.json, eda_paises.json, kaggle_metadata.json.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472586b564f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db934289ae44dc" /><Relationship Type="http://schemas.openxmlformats.org/officeDocument/2006/relationships/slideLayout" Target="/ppt/slideLayouts/slideLayout1.xml" Id="Ra65ee74dedaf4a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5ee74dedaf4a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344058fd641f1" /><Relationship Type="http://schemas.openxmlformats.org/officeDocument/2006/relationships/notesSlide" Target="/ppt/notesSlides/notesSlide1.xml" Id="R9ef85dbe1ef840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58a3349154067" /><Relationship Type="http://schemas.openxmlformats.org/officeDocument/2006/relationships/notesSlide" Target="/ppt/notesSlides/notesSlide2.xml" Id="Rf935ff03fcc540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4181f38e04f36" /><Relationship Type="http://schemas.openxmlformats.org/officeDocument/2006/relationships/chart" Target="/ppt/slides/charts/chart1.xml" Id="R2111e0e0a08e4229" /><Relationship Type="http://schemas.openxmlformats.org/officeDocument/2006/relationships/notesSlide" Target="/ppt/notesSlides/notesSlide3.xml" Id="Rd59141f37e5643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35a1afa36493e" /><Relationship Type="http://schemas.openxmlformats.org/officeDocument/2006/relationships/notesSlide" Target="/ppt/notesSlides/notesSlide4.xml" Id="R1971ab94b5e247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c2940e2d14bab" /><Relationship Type="http://schemas.openxmlformats.org/officeDocument/2006/relationships/notesSlide" Target="/ppt/notesSlides/notesSlide5.xml" Id="Rd61f2ecfe72842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7c3fa2c9c4a2f" /><Relationship Type="http://schemas.openxmlformats.org/officeDocument/2006/relationships/chart" Target="/ppt/slides/charts/chart2.xml" Id="R85c41d7b58ee4ba8" /><Relationship Type="http://schemas.openxmlformats.org/officeDocument/2006/relationships/notesSlide" Target="/ppt/notesSlides/notesSlide6.xml" Id="R92cc038cd4d647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2cfa5095f4237" /><Relationship Type="http://schemas.openxmlformats.org/officeDocument/2006/relationships/chart" Target="/ppt/slides/charts/chart3.xml" Id="Ra6aea4b6fae64cc8" /><Relationship Type="http://schemas.openxmlformats.org/officeDocument/2006/relationships/notesSlide" Target="/ppt/notesSlides/notesSlide7.xml" Id="R2c57e5b2d1954b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412b8fb354352" /><Relationship Type="http://schemas.openxmlformats.org/officeDocument/2006/relationships/image" Target="/ppt/media/image.png" Id="Rb48d9512366944fc" /><Relationship Type="http://schemas.openxmlformats.org/officeDocument/2006/relationships/notesSlide" Target="/ppt/notesSlides/notesSlide8.xml" Id="R219b9f671be540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c44ef105d447c" /><Relationship Type="http://schemas.openxmlformats.org/officeDocument/2006/relationships/notesSlide" Target="/ppt/notesSlides/notesSlide9.xml" Id="R9af7baa4866b4b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71218a4084a97" /><Relationship Type="http://schemas.openxmlformats.org/officeDocument/2006/relationships/notesSlide" Target="/ppt/notesSlides/notesSlide10.xml" Id="R65b5196ee26e4af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Registros</c:v>
          </c:tx>
          <c:spPr>
            <a:solidFill xmlns:a="http://schemas.openxmlformats.org/drawingml/2006/main">
              <a:srgbClr val="8C1D22"/>
            </a:solidFill>
          </c:spPr>
          <c:cat>
            <c:strRef>
              <c:f>'Chart Data'!$A$2:$A$6</c:f>
              <c:strCache>
                <c:ptCount val="5"/>
                <c:pt idx="0">
                  <c:v>Italia</c:v>
                </c:pt>
                <c:pt idx="1">
                  <c:v>España</c:v>
                </c:pt>
                <c:pt idx="2">
                  <c:v>Alemania</c:v>
                </c:pt>
                <c:pt idx="3">
                  <c:v>Francia</c:v>
                </c:pt>
                <c:pt idx="4">
                  <c:v>Inglaterra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7314</c:v>
                </c:pt>
                <c:pt idx="1">
                  <c:v>8295</c:v>
                </c:pt>
                <c:pt idx="2">
                  <c:v>9431</c:v>
                </c:pt>
                <c:pt idx="3">
                  <c:v>13300</c:v>
                </c:pt>
                <c:pt idx="4">
                  <c:v>24090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ChartSnapshot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RMSE</c:v>
          </c:tx>
          <c:spPr>
            <a:solidFill xmlns:a="http://schemas.openxmlformats.org/drawingml/2006/main">
              <a:srgbClr val="8C1D22"/>
            </a:solidFill>
          </c:spPr>
          <c:cat>
            <c:strRef>
              <c:f>'Chart Data'!$A$2:$A$4</c:f>
              <c:strCache>
                <c:ptCount val="3"/>
                <c:pt idx="0">
                  <c:v>Media de entrenamiento</c:v>
                </c:pt>
                <c:pt idx="1">
                  <c:v>Sin reputación · RF</c:v>
                </c:pt>
                <c:pt idx="2">
                  <c:v>Con reputación · XGB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0.695437</c:v>
                </c:pt>
                <c:pt idx="1">
                  <c:v>0.624743</c:v>
                </c:pt>
                <c:pt idx="2">
                  <c:v>0.54234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ChartSnapshot1">
    <c:autoUpdate val="0"/>
  </c:externalData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Aumento de RMSE</c:v>
          </c:tx>
          <c:spPr>
            <a:solidFill xmlns:a="http://schemas.openxmlformats.org/drawingml/2006/main">
              <a:srgbClr val="8C1D22"/>
            </a:solidFill>
          </c:spPr>
          <c:cat>
            <c:strRef>
              <c:f>'Chart Data'!$A$2:$A$6</c:f>
              <c:strCache>
                <c:ptCount val="5"/>
                <c:pt idx="0">
                  <c:v>Opciones vegetarianas</c:v>
                </c:pt>
                <c:pt idx="1">
                  <c:v>Longitud</c:v>
                </c:pt>
                <c:pt idx="2">
                  <c:v>Días abiertos</c:v>
                </c:pt>
                <c:pt idx="3">
                  <c:v>Opciones veganas</c:v>
                </c:pt>
                <c:pt idx="4">
                  <c:v>Cocina china</c:v>
                </c:pt>
              </c:strCache>
            </c:strRef>
          </c:cat>
          <c:val>
            <c:numRef>
              <c:f>'Chart Data'!$B$2:$B$6</c:f>
              <c:numCache>
                <c:formatCode>0.000</c:formatCode>
                <c:ptCount val="5"/>
                <c:pt idx="0">
                  <c:v>0.012279</c:v>
                </c:pt>
                <c:pt idx="1">
                  <c:v>0.014738</c:v>
                </c:pt>
                <c:pt idx="2">
                  <c:v>0.020017</c:v>
                </c:pt>
                <c:pt idx="3">
                  <c:v>0.023585</c:v>
                </c:pt>
                <c:pt idx="4">
                  <c:v>0.032469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8C1D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E7710-FC13-4D51-9ABA-21370646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Gastronomía asiática</a:t>
            </a:r>
          </a:p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 Europa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A185B-CB50-44AC-9B26-6C4EAB9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9264F-8EAC-4329-96FB-2C89E5DC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F4E9D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E9D8"/>
                </a:solidFill>
                <a:latin typeface="Arial"/>
                <a:ea typeface="Arial"/>
                <a:cs typeface="Arial"/>
              </a:rPr>
              <a:t>Análisis y predicción de valoración</a:t>
            </a:r>
          </a:p>
          <a:p xmlns:a="http://schemas.openxmlformats.org/drawingml/2006/main">
            <a:pPr>
              <a:buNone/>
              <a:defRPr sz="2550" b="0">
                <a:solidFill>
                  <a:srgbClr val="F4E9D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E9D8"/>
                </a:solidFill>
                <a:latin typeface="Arial"/>
                <a:ea typeface="Arial"/>
                <a:cs typeface="Arial"/>
              </a:rPr>
              <a:t>con especial foco en España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41FFF-DB91-4F68-AD33-7B4520F2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Peng Chen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AEDF0-35EA-4F48-B2C9-C72BB531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TFM · Big Data, Data Science e Inteligencia Artificial</a:t>
            </a:r>
          </a:p>
          <a:p xmlns:a="http://schemas.openxmlformats.org/drawingml/2006/main">
            <a:pPr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UCM Online · Septiembre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04BEF-5BFB-43F9-9363-DF198EDE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¿Qué permiten conocer los datos sobre estos restaurantes?</a:t>
            </a:r>
          </a:p>
        </p:txBody>
      </p:sp>
    </p:spTree>
    <p:extLst>
      <p:ext uri="{BB962C8B-B14F-4D97-AF65-F5344CB8AC3E}">
        <p14:creationId xmlns:p14="http://schemas.microsoft.com/office/powerpoint/2010/main" val="1700196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21FEB-4897-4A2A-8C32-AB91BCF9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D22"/>
                </a:solidFill>
                <a:latin typeface="Arial"/>
                <a:ea typeface="Arial"/>
                <a:cs typeface="Arial"/>
              </a:rPr>
              <a:t>Datos y adecuación al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671CC-C7EF-401B-9078-904C828E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1D3E3-E0CB-4634-910D-6A36AA0E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86.306 restaurantes asiáticos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4A2DB-9595-4DE8-9628-06EBF076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81.315 con valoración válida para modelizar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64DDD-0532-4120-AD32-79D8CB1A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Datos publicados en 2021</a:t>
            </a:r>
          </a:p>
          <a:p xmlns:a="http://schemas.openxmlformats.org/drawingml/2006/main">
            <a:pPr>
              <a:buNone/>
              <a:defRPr sz="2175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Licencia CC0 declarada por Kaggle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9387A-A83B-4EEF-BE92-CAF14315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8C1D22"/>
                </a:solidFill>
                <a:latin typeface="Arial"/>
                <a:ea typeface="Arial"/>
                <a:cs typeface="Arial"/>
              </a:rPr>
              <a:t>Cobertura parcial y valores ausentes</a:t>
            </a:r>
          </a:p>
          <a:p xmlns:a="http://schemas.openxmlformats.org/drawingml/2006/main">
            <a:pPr>
              <a:buNone/>
              <a:defRPr sz="2175" b="0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8C1D22"/>
                </a:solidFill>
                <a:latin typeface="Arial"/>
                <a:ea typeface="Arial"/>
                <a:cs typeface="Arial"/>
              </a:rPr>
              <a:t>Sin información de ventas ni beneficios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801AF-9EC7-4B18-B27F-6427769C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Origen: 1.083.397 restaurantes europeos · 42 columnas</a:t>
            </a:r>
          </a:p>
        </p:txBody>
      </p:sp>
    </p:spTree>
    <p:extLst>
      <p:ext uri="{BB962C8B-B14F-4D97-AF65-F5344CB8AC3E}">
        <p14:creationId xmlns:p14="http://schemas.microsoft.com/office/powerpoint/2010/main" val="6460096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7926A-4C2E-4D82-8A6F-EF76D19E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D22"/>
                </a:solidFill>
                <a:latin typeface="Arial"/>
                <a:ea typeface="Arial"/>
                <a:cs typeface="Arial"/>
              </a:rPr>
              <a:t>Distribución territorial de la muestra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8523C-192A-4965-BA4B-B108CED7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57250" y="1666875"/>
          <a:ext xmlns:a="http://schemas.openxmlformats.org/drawingml/2006/main" cx="10096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11e0e0a08e422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42A00-555E-4688-917B-723556FB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España: 8.295 registros. Recuentos de la plataforma, no un censo.</a:t>
            </a:r>
          </a:p>
          <a:p xmlns:a="http://schemas.openxmlformats.org/drawingml/2006/main">
            <a:pPr>
              <a:buNone/>
              <a:defRPr sz="18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El Reino Unido aparece dividido en 4 etiquetas territoriales.</a:t>
            </a:r>
          </a:p>
        </p:txBody>
      </p:sp>
    </p:spTree>
    <p:extLst>
      <p:ext uri="{BB962C8B-B14F-4D97-AF65-F5344CB8AC3E}">
        <p14:creationId xmlns:p14="http://schemas.microsoft.com/office/powerpoint/2010/main" val="17138122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41F54-A1B2-4A76-BCBF-9F8ADCD5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D22"/>
                </a:solidFill>
                <a:latin typeface="Arial"/>
                <a:ea typeface="Arial"/>
                <a:cs typeface="Arial"/>
              </a:rPr>
              <a:t>Información disponible para predecir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6AF63-4740-4F7C-9C8A-402E91D3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D96CB-C892-4304-A526-DBB0BC84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C1D22"/>
                </a:solidFill>
                <a:latin typeface="Arial"/>
                <a:ea typeface="Arial"/>
                <a:cs typeface="Arial"/>
              </a:rPr>
              <a:t>Sin reputación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1DB80-D5E8-4191-87B2-968FAC12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Ubicación, horarios, precio, dietas y tipos de cocina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909E2-FD22-443A-A426-9E8A264E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C1D22"/>
                </a:solidFill>
                <a:latin typeface="Arial"/>
                <a:ea typeface="Arial"/>
                <a:cs typeface="Arial"/>
              </a:rPr>
              <a:t>Con reputación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F7217-54FA-4781-A6B3-5640F054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Añade puntuaciones de comida, servicio, valor y ambiente,</a:t>
            </a:r>
          </a:p>
          <a:p xmlns:a="http://schemas.openxmlformats.org/drawingml/2006/main">
            <a:pPr>
              <a:buNone/>
              <a:defRPr sz="210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y el número de reseñas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EA27E-86FB-4341-9826-EF5871E9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Objetivo: valoración histórica de restaurantes existentes</a:t>
            </a:r>
          </a:p>
          <a:p xmlns:a="http://schemas.openxmlformats.org/drawingml/2006/main">
            <a:pPr>
              <a:buNone/>
              <a:defRPr sz="1950" b="1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B2B2B"/>
                </a:solidFill>
                <a:latin typeface="Arial"/>
                <a:ea typeface="Arial"/>
                <a:cs typeface="Arial"/>
              </a:rPr>
              <a:t>Uso en nuevas aperturas pendiente de validación</a:t>
            </a:r>
          </a:p>
        </p:txBody>
      </p:sp>
    </p:spTree>
    <p:extLst>
      <p:ext uri="{BB962C8B-B14F-4D97-AF65-F5344CB8AC3E}">
        <p14:creationId xmlns:p14="http://schemas.microsoft.com/office/powerpoint/2010/main" val="5492599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3B906-5F60-4BCB-AC35-AD49D440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D22"/>
                </a:solidFill>
                <a:latin typeface="Arial"/>
                <a:ea typeface="Arial"/>
                <a:cs typeface="Arial"/>
              </a:rPr>
              <a:t>Selección de modelos en validación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84155-61D1-4B6E-BFC0-514D88A9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106680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2809875"/>
                <a:gridCol w="280987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Modelo sin reputación</a:t>
                      </a:r>
                    </a:p>
                  </a:txBody>
                  <a:tcPr marL="91440" marR="91440" marT="45720" marB="45720">
                    <a:solidFill>
                      <a:srgbClr val="F4E9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RMSE validación</a:t>
                      </a:r>
                    </a:p>
                  </a:txBody>
                  <a:tcPr marL="91440" marR="91440" marT="45720" marB="45720">
                    <a:solidFill>
                      <a:srgbClr val="F4E9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MAE validación</a:t>
                      </a:r>
                    </a:p>
                  </a:txBody>
                  <a:tcPr marL="91440" marR="91440" marT="45720" marB="45720">
                    <a:solidFill>
                      <a:srgbClr val="F4E9D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Media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0,681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0,501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Lineal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0,633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0,478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91440" marR="91440" marT="45720" marB="45720">
                    <a:solidFill>
                      <a:srgbClr val="F4E9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0,620</a:t>
                      </a:r>
                    </a:p>
                  </a:txBody>
                  <a:tcPr marL="91440" marR="91440" marT="45720" marB="45720">
                    <a:solidFill>
                      <a:srgbClr val="F4E9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0,460</a:t>
                      </a:r>
                    </a:p>
                  </a:txBody>
                  <a:tcPr marL="91440" marR="91440" marT="45720" marB="45720">
                    <a:solidFill>
                      <a:srgbClr val="F4E9D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0,621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0,463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C7595-AE64-4F26-93ED-A019E485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60 % entrenamiento · 20 % validación · 20 %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E6010-5BAE-463D-890A-D932EC90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Selección por menor RMSE. Reajuste con el 80 % antes del test.</a:t>
            </a:r>
          </a:p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Random Forest y XGBoost quedan muy próximos en validación.</a:t>
            </a:r>
          </a:p>
        </p:txBody>
      </p:sp>
    </p:spTree>
    <p:extLst>
      <p:ext uri="{BB962C8B-B14F-4D97-AF65-F5344CB8AC3E}">
        <p14:creationId xmlns:p14="http://schemas.microsoft.com/office/powerpoint/2010/main" val="947930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B5948-CAA1-4CEC-B599-C5A702EC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D22"/>
                </a:solidFill>
                <a:latin typeface="Arial"/>
                <a:ea typeface="Arial"/>
                <a:cs typeface="Arial"/>
              </a:rPr>
              <a:t>Evaluación final: error de predicción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2CE1B-10CB-47AD-AE73-2CA87E6F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096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c41d7b58ee4ba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2717B-D5E7-4B22-8BE9-17387D37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1D22"/>
                </a:solidFill>
                <a:latin typeface="Arial"/>
                <a:ea typeface="Arial"/>
                <a:cs typeface="Arial"/>
              </a:rPr>
              <a:t>MAE = error absoluto medio en puntos de valoración</a:t>
            </a:r>
          </a:p>
          <a:p xmlns:a="http://schemas.openxmlformats.org/drawingml/2006/main">
            <a:pPr>
              <a:buNone/>
              <a:defRPr sz="2025" b="1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1D22"/>
                </a:solidFill>
                <a:latin typeface="Arial"/>
                <a:ea typeface="Arial"/>
                <a:cs typeface="Arial"/>
              </a:rPr>
              <a:t>0,462 sin reputación · 0,361 con reputación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22BE4-380F-49B0-83C4-64560EED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16.263 casos de test. Cambian las variables y el algoritmo.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A54BF-C888-4040-A6B3-C0B2CD8F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RMSE: cuanto menor, mejor</a:t>
            </a:r>
          </a:p>
        </p:txBody>
      </p:sp>
    </p:spTree>
    <p:extLst>
      <p:ext uri="{BB962C8B-B14F-4D97-AF65-F5344CB8AC3E}">
        <p14:creationId xmlns:p14="http://schemas.microsoft.com/office/powerpoint/2010/main" val="4691618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B6BFD-F858-4C8E-9CA2-84637E96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D22"/>
                </a:solidFill>
                <a:latin typeface="Arial"/>
                <a:ea typeface="Arial"/>
                <a:cs typeface="Arial"/>
              </a:rPr>
              <a:t>Interpretación del modelo sin reputación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B9963-5A1F-4D91-AA12-D48B58C7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096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aea4b6fae64cc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6B6C5-F722-447C-B818-B1371F3E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Random Forest · 1.200 casos de validación · 3 repeticiones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BDF59-A6A9-42C9-8816-0B0C92C8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1D22"/>
                </a:solidFill>
                <a:latin typeface="Arial"/>
                <a:ea typeface="Arial"/>
                <a:cs typeface="Arial"/>
              </a:rPr>
              <a:t>La importancia explica el modelo, no demuestra causalidad</a:t>
            </a:r>
          </a:p>
        </p:txBody>
      </p:sp>
    </p:spTree>
    <p:extLst>
      <p:ext uri="{BB962C8B-B14F-4D97-AF65-F5344CB8AC3E}">
        <p14:creationId xmlns:p14="http://schemas.microsoft.com/office/powerpoint/2010/main" val="15511264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2DAB0-3738-43BE-ADA8-959A230D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D22"/>
                </a:solidFill>
                <a:latin typeface="Arial"/>
                <a:ea typeface="Arial"/>
                <a:cs typeface="Arial"/>
              </a:rPr>
              <a:t>Productivización del 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86B15-635A-4A18-87DC-C7B290BE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F1B5F-A412-4BBF-8DE7-CBAEF525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8C1D22"/>
                </a:solidFill>
                <a:latin typeface="Arial"/>
                <a:ea typeface="Arial"/>
                <a:cs typeface="Arial"/>
              </a:rPr>
              <a:t>Aplicación web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A6056-841F-4447-B9A1-C098710D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3143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Entrada validada</a:t>
            </a:r>
          </a:p>
          <a:p xmlns:a="http://schemas.openxmlformats.org/drawingml/2006/main">
            <a:pPr>
              <a:buNone/>
              <a:defRPr sz="2325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19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Predicción y versión</a:t>
            </a:r>
          </a:p>
          <a:p xmlns:a="http://schemas.openxmlformats.org/drawingml/2006/main">
            <a:pPr>
              <a:buNone/>
              <a:defRPr sz="2325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19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Avisos de imputación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67037-1815-4245-8C4E-43A38AC2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C1D22"/>
                </a:solidFill>
                <a:latin typeface="Arial"/>
                <a:ea typeface="Arial"/>
                <a:cs typeface="Arial"/>
              </a:rPr>
              <a:t>Prototipo local funcional. Impacto empresarial aún sin validar.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d9512366944fc"/>
          <a:stretch xmlns:a="http://schemas.openxmlformats.org/drawingml/2006/main"/>
        </p:blipFill>
        <p:spPr>
          <a:xfrm xmlns:a="http://schemas.openxmlformats.org/drawingml/2006/main">
            <a:off x="4312614" y="1809750"/>
            <a:ext cx="6852897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CB806-F445-44A1-B652-D95E1626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381125"/>
            <a:ext cx="719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1D22"/>
                </a:solidFill>
                <a:latin typeface="Arial"/>
                <a:ea typeface="Arial"/>
                <a:cs typeface="Arial"/>
              </a:rPr>
              <a:t>Ejemplo histórico real: 3,72 /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6D3EE-B531-4EB7-B3A0-E7AF08FF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591175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Recorte de la interfaz, con campos y resultado de la misma ejecución</a:t>
            </a:r>
          </a:p>
        </p:txBody>
      </p:sp>
    </p:spTree>
    <p:extLst>
      <p:ext uri="{BB962C8B-B14F-4D97-AF65-F5344CB8AC3E}">
        <p14:creationId xmlns:p14="http://schemas.microsoft.com/office/powerpoint/2010/main" val="5608329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86AB1-F46D-43B6-92B5-01FDA463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8C1D22"/>
                </a:solidFill>
                <a:latin typeface="Arial"/>
                <a:ea typeface="Arial"/>
                <a:cs typeface="Arial"/>
              </a:rPr>
              <a:t>Madrid: contexto para una decisión de inversión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06440-F4FB-4867-9D14-2E1EF988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E0FF1-3BE0-492F-8422-28D249F0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C1D22"/>
                </a:solidFill>
                <a:latin typeface="Arial"/>
                <a:ea typeface="Arial"/>
                <a:cs typeface="Arial"/>
              </a:rPr>
              <a:t>Información incorporada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ED1F9-8C1A-45FD-A8B6-9CF2D7A6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Censo y padrón de 2026, renta de 2023</a:t>
            </a:r>
          </a:p>
          <a:p xmlns:a="http://schemas.openxmlformats.org/drawingml/2006/main">
            <a:pPr>
              <a:buNone/>
              <a:defRPr sz="22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Precios y condiciones de menús publicados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4C344-5D8A-4730-8DA4-546DBBC1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8C1D2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C1D22"/>
                </a:solidFill>
                <a:latin typeface="Arial"/>
                <a:ea typeface="Arial"/>
                <a:cs typeface="Arial"/>
              </a:rPr>
              <a:t>Evidencia que todavía falta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B6A18-670D-4994-B382-267DEC6F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Demanda, ventas y costes de un local concreto</a:t>
            </a:r>
          </a:p>
          <a:p xmlns:a="http://schemas.openxmlformats.org/drawingml/2006/main">
            <a:pPr>
              <a:buNone/>
              <a:defRPr sz="2250" b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B2B2B"/>
                </a:solidFill>
                <a:latin typeface="Arial"/>
                <a:ea typeface="Arial"/>
                <a:cs typeface="Arial"/>
              </a:rPr>
              <a:t>Los escenarios del anexo dependen de supuestos</a:t>
            </a:r>
          </a:p>
        </p:txBody>
      </p:sp>
    </p:spTree>
    <p:extLst>
      <p:ext uri="{BB962C8B-B14F-4D97-AF65-F5344CB8AC3E}">
        <p14:creationId xmlns:p14="http://schemas.microsoft.com/office/powerpoint/2010/main" val="20540761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8C1D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1ECE3-08D3-4A53-8295-48968566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Conclusiones y siguientes mejoras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66344-F713-458D-A274-38A8333A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C627F-A2F1-4372-A827-AD4E4D4A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Predicción histórica mejor que la referencia</a:t>
            </a:r>
          </a:p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MAE de 0,462 puntos sin reputación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DB324-4A04-46E9-A37E-18FF673C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F4E9D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4E9D8"/>
                </a:solidFill>
                <a:latin typeface="Arial"/>
                <a:ea typeface="Arial"/>
                <a:cs typeface="Arial"/>
              </a:rPr>
              <a:t>Modelo interpretable y aplicación local reproducible</a:t>
            </a:r>
          </a:p>
          <a:p xmlns:a="http://schemas.openxmlformats.org/drawingml/2006/main">
            <a:pPr>
              <a:buNone/>
              <a:defRPr sz="2325" b="0">
                <a:solidFill>
                  <a:srgbClr val="F4E9D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4E9D8"/>
                </a:solidFill>
                <a:latin typeface="Arial"/>
                <a:ea typeface="Arial"/>
                <a:cs typeface="Arial"/>
              </a:rPr>
              <a:t>La rentabilidad sigue sin quedar demostrada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D6FBB-30C1-4E97-8B60-BBACA2EA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Siguiente paso: datos actuales, validación externa</a:t>
            </a:r>
          </a:p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 evaluación de utilidad en un uso real</a:t>
            </a:r>
          </a:p>
        </p:txBody>
      </p:sp>
    </p:spTree>
    <p:extLst>
      <p:ext uri="{BB962C8B-B14F-4D97-AF65-F5344CB8AC3E}">
        <p14:creationId xmlns:p14="http://schemas.microsoft.com/office/powerpoint/2010/main" val="332040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2026-09-15T22:50:14.8340000Z</dcterms:created>
  <dcterms:modified xsi:type="dcterms:W3CDTF">2026-09-15T22:50:14.8340000Z</dcterms:modified>
</coreProperties>
</file>